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12b753060a4449" /><Relationship Type="http://schemas.openxmlformats.org/officeDocument/2006/relationships/extended-properties" Target="/docProps/app.xml" Id="Rad3a8cf6084540a9" /><Relationship Type="http://schemas.openxmlformats.org/officeDocument/2006/relationships/officeDocument" Target="/ppt/presentation.xml" Id="R56b3d6f1a43e49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0161b0b9294e5b"/>
  </p:sldMasterIdLst>
  <p:notesMasterIdLst>
    <p:notesMasterId xmlns:r="http://schemas.openxmlformats.org/officeDocument/2006/relationships" r:id="R01ee8759cdf44fa6"/>
  </p:notesMasterIdLst>
  <p:sldIdLst>
    <p:sldId xmlns:r="http://schemas.openxmlformats.org/officeDocument/2006/relationships" id="256" r:id="R0708a5e116cb42c0"/>
    <p:sldId xmlns:r="http://schemas.openxmlformats.org/officeDocument/2006/relationships" id="257" r:id="R44bfbd3d32484aaa"/>
    <p:sldId xmlns:r="http://schemas.openxmlformats.org/officeDocument/2006/relationships" id="258" r:id="R83cea173b3ca4534"/>
    <p:sldId xmlns:r="http://schemas.openxmlformats.org/officeDocument/2006/relationships" id="259" r:id="R8e33ab4c3cea4282"/>
    <p:sldId xmlns:r="http://schemas.openxmlformats.org/officeDocument/2006/relationships" id="260" r:id="R8c70fd503b674592"/>
    <p:sldId xmlns:r="http://schemas.openxmlformats.org/officeDocument/2006/relationships" id="261" r:id="Re7524c838e2c4c81"/>
    <p:sldId xmlns:r="http://schemas.openxmlformats.org/officeDocument/2006/relationships" id="262" r:id="R61896f783f144236"/>
    <p:sldId xmlns:r="http://schemas.openxmlformats.org/officeDocument/2006/relationships" id="263" r:id="R3212e6ef8a98425a"/>
    <p:sldId xmlns:r="http://schemas.openxmlformats.org/officeDocument/2006/relationships" id="264" r:id="R2087f01a4d9f45fe"/>
    <p:sldId xmlns:r="http://schemas.openxmlformats.org/officeDocument/2006/relationships" id="265" r:id="R422665d668ff416f"/>
    <p:sldId xmlns:r="http://schemas.openxmlformats.org/officeDocument/2006/relationships" id="266" r:id="R672562e0c2aa4dbd"/>
    <p:sldId xmlns:r="http://schemas.openxmlformats.org/officeDocument/2006/relationships" id="267" r:id="Rc34d00fb9b2949d9"/>
    <p:sldId xmlns:r="http://schemas.openxmlformats.org/officeDocument/2006/relationships" id="268" r:id="Reb1c617bd5784b19"/>
    <p:sldId xmlns:r="http://schemas.openxmlformats.org/officeDocument/2006/relationships" id="269" r:id="Ra7434b956486487e"/>
    <p:sldId xmlns:r="http://schemas.openxmlformats.org/officeDocument/2006/relationships" id="270" r:id="R606e0e5f83e44669"/>
    <p:sldId xmlns:r="http://schemas.openxmlformats.org/officeDocument/2006/relationships" id="271" r:id="R5ba05c752c364a92"/>
    <p:sldId xmlns:r="http://schemas.openxmlformats.org/officeDocument/2006/relationships" id="272" r:id="R123fd0fefd1f489a"/>
    <p:sldId xmlns:r="http://schemas.openxmlformats.org/officeDocument/2006/relationships" id="273" r:id="R2ac2376ede904929"/>
    <p:sldId xmlns:r="http://schemas.openxmlformats.org/officeDocument/2006/relationships" id="274" r:id="Ra07ed6e955344d3d"/>
    <p:sldId xmlns:r="http://schemas.openxmlformats.org/officeDocument/2006/relationships" id="275" r:id="R21e208620f2847d4"/>
    <p:sldId xmlns:r="http://schemas.openxmlformats.org/officeDocument/2006/relationships" id="276" r:id="R3f3514f4d1d545d5"/>
    <p:sldId xmlns:r="http://schemas.openxmlformats.org/officeDocument/2006/relationships" id="277" r:id="Rdd712e4f12d74bca"/>
    <p:sldId xmlns:r="http://schemas.openxmlformats.org/officeDocument/2006/relationships" id="278" r:id="R26fd93cc21774536"/>
    <p:sldId xmlns:r="http://schemas.openxmlformats.org/officeDocument/2006/relationships" id="279" r:id="Re5daca9533354b22"/>
    <p:sldId xmlns:r="http://schemas.openxmlformats.org/officeDocument/2006/relationships" id="280" r:id="R034d25d2163b4e3c"/>
    <p:sldId xmlns:r="http://schemas.openxmlformats.org/officeDocument/2006/relationships" id="281" r:id="R19c215a53c0145ea"/>
    <p:sldId xmlns:r="http://schemas.openxmlformats.org/officeDocument/2006/relationships" id="282" r:id="Ra65451a7172b4d64"/>
    <p:sldId xmlns:r="http://schemas.openxmlformats.org/officeDocument/2006/relationships" id="283" r:id="Rabcb3c4e21cf4796"/>
    <p:sldId xmlns:r="http://schemas.openxmlformats.org/officeDocument/2006/relationships" id="284" r:id="Re683d195e34847a2"/>
    <p:sldId xmlns:r="http://schemas.openxmlformats.org/officeDocument/2006/relationships" id="285" r:id="Re205d61d43f54a46"/>
    <p:sldId xmlns:r="http://schemas.openxmlformats.org/officeDocument/2006/relationships" id="286" r:id="R87332ad960f24789"/>
    <p:sldId xmlns:r="http://schemas.openxmlformats.org/officeDocument/2006/relationships" id="287" r:id="R02cb9c5e3b5b4adf"/>
    <p:sldId xmlns:r="http://schemas.openxmlformats.org/officeDocument/2006/relationships" id="288" r:id="Rb248905337794d38"/>
    <p:sldId xmlns:r="http://schemas.openxmlformats.org/officeDocument/2006/relationships" id="289" r:id="R91509b3c24fe4f79"/>
    <p:sldId xmlns:r="http://schemas.openxmlformats.org/officeDocument/2006/relationships" id="290" r:id="R1c097900a2704f1b"/>
    <p:sldId xmlns:r="http://schemas.openxmlformats.org/officeDocument/2006/relationships" id="291" r:id="R88286663502b470d"/>
    <p:sldId xmlns:r="http://schemas.openxmlformats.org/officeDocument/2006/relationships" id="292" r:id="Rab2bbb3c3a0742f2"/>
    <p:sldId xmlns:r="http://schemas.openxmlformats.org/officeDocument/2006/relationships" id="293" r:id="R6b05e2ee57b24aeb"/>
    <p:sldId xmlns:r="http://schemas.openxmlformats.org/officeDocument/2006/relationships" id="294" r:id="R153bb5b93cd04d96"/>
    <p:sldId xmlns:r="http://schemas.openxmlformats.org/officeDocument/2006/relationships" id="295" r:id="R1725e91e1b3a4a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6ec9b396b0456c" /><Relationship Type="http://schemas.openxmlformats.org/officeDocument/2006/relationships/slideMaster" Target="/ppt/slideMasters/slideMaster1.xml" Id="R330161b0b9294e5b" /><Relationship Type="http://schemas.openxmlformats.org/officeDocument/2006/relationships/notesMaster" Target="/ppt/notesMasters/notesMaster1.xml" Id="R01ee8759cdf44fa6" /><Relationship Type="http://schemas.openxmlformats.org/officeDocument/2006/relationships/presProps" Target="/ppt/presProps.xml" Id="Rd29db06770fd4ef9" /><Relationship Type="http://schemas.openxmlformats.org/officeDocument/2006/relationships/tableStyles" Target="/ppt/tableStyles.xml" Id="R4ac6846ae95d4b19" /><Relationship Type="http://schemas.openxmlformats.org/officeDocument/2006/relationships/slide" Target="/ppt/slides/slide1.xml" Id="R0708a5e116cb42c0" /><Relationship Type="http://schemas.openxmlformats.org/officeDocument/2006/relationships/slide" Target="/ppt/slides/slide2.xml" Id="R44bfbd3d32484aaa" /><Relationship Type="http://schemas.openxmlformats.org/officeDocument/2006/relationships/slide" Target="/ppt/slides/slide3.xml" Id="R83cea173b3ca4534" /><Relationship Type="http://schemas.openxmlformats.org/officeDocument/2006/relationships/slide" Target="/ppt/slides/slide4.xml" Id="R8e33ab4c3cea4282" /><Relationship Type="http://schemas.openxmlformats.org/officeDocument/2006/relationships/slide" Target="/ppt/slides/slide5.xml" Id="R8c70fd503b674592" /><Relationship Type="http://schemas.openxmlformats.org/officeDocument/2006/relationships/slide" Target="/ppt/slides/slide6.xml" Id="Re7524c838e2c4c81" /><Relationship Type="http://schemas.openxmlformats.org/officeDocument/2006/relationships/slide" Target="/ppt/slides/slide7.xml" Id="R61896f783f144236" /><Relationship Type="http://schemas.openxmlformats.org/officeDocument/2006/relationships/slide" Target="/ppt/slides/slide8.xml" Id="R3212e6ef8a98425a" /><Relationship Type="http://schemas.openxmlformats.org/officeDocument/2006/relationships/slide" Target="/ppt/slides/slide9.xml" Id="R2087f01a4d9f45fe" /><Relationship Type="http://schemas.openxmlformats.org/officeDocument/2006/relationships/slide" Target="/ppt/slides/slide10.xml" Id="R422665d668ff416f" /><Relationship Type="http://schemas.openxmlformats.org/officeDocument/2006/relationships/slide" Target="/ppt/slides/slide11.xml" Id="R672562e0c2aa4dbd" /><Relationship Type="http://schemas.openxmlformats.org/officeDocument/2006/relationships/slide" Target="/ppt/slides/slide12.xml" Id="Rc34d00fb9b2949d9" /><Relationship Type="http://schemas.openxmlformats.org/officeDocument/2006/relationships/slide" Target="/ppt/slides/slide13.xml" Id="Reb1c617bd5784b19" /><Relationship Type="http://schemas.openxmlformats.org/officeDocument/2006/relationships/slide" Target="/ppt/slides/slide14.xml" Id="Ra7434b956486487e" /><Relationship Type="http://schemas.openxmlformats.org/officeDocument/2006/relationships/slide" Target="/ppt/slides/slide15.xml" Id="R606e0e5f83e44669" /><Relationship Type="http://schemas.openxmlformats.org/officeDocument/2006/relationships/slide" Target="/ppt/slides/slide16.xml" Id="R5ba05c752c364a92" /><Relationship Type="http://schemas.openxmlformats.org/officeDocument/2006/relationships/slide" Target="/ppt/slides/slide17.xml" Id="R123fd0fefd1f489a" /><Relationship Type="http://schemas.openxmlformats.org/officeDocument/2006/relationships/slide" Target="/ppt/slides/slide18.xml" Id="R2ac2376ede904929" /><Relationship Type="http://schemas.openxmlformats.org/officeDocument/2006/relationships/slide" Target="/ppt/slides/slide19.xml" Id="Ra07ed6e955344d3d" /><Relationship Type="http://schemas.openxmlformats.org/officeDocument/2006/relationships/slide" Target="/ppt/slides/slide20.xml" Id="R21e208620f2847d4" /><Relationship Type="http://schemas.openxmlformats.org/officeDocument/2006/relationships/slide" Target="/ppt/slides/slide21.xml" Id="R3f3514f4d1d545d5" /><Relationship Type="http://schemas.openxmlformats.org/officeDocument/2006/relationships/slide" Target="/ppt/slides/slide22.xml" Id="Rdd712e4f12d74bca" /><Relationship Type="http://schemas.openxmlformats.org/officeDocument/2006/relationships/slide" Target="/ppt/slides/slide23.xml" Id="R26fd93cc21774536" /><Relationship Type="http://schemas.openxmlformats.org/officeDocument/2006/relationships/slide" Target="/ppt/slides/slide24.xml" Id="Re5daca9533354b22" /><Relationship Type="http://schemas.openxmlformats.org/officeDocument/2006/relationships/slide" Target="/ppt/slides/slide25.xml" Id="R034d25d2163b4e3c" /><Relationship Type="http://schemas.openxmlformats.org/officeDocument/2006/relationships/slide" Target="/ppt/slides/slide26.xml" Id="R19c215a53c0145ea" /><Relationship Type="http://schemas.openxmlformats.org/officeDocument/2006/relationships/slide" Target="/ppt/slides/slide27.xml" Id="Ra65451a7172b4d64" /><Relationship Type="http://schemas.openxmlformats.org/officeDocument/2006/relationships/slide" Target="/ppt/slides/slide28.xml" Id="Rabcb3c4e21cf4796" /><Relationship Type="http://schemas.openxmlformats.org/officeDocument/2006/relationships/slide" Target="/ppt/slides/slide29.xml" Id="Re683d195e34847a2" /><Relationship Type="http://schemas.openxmlformats.org/officeDocument/2006/relationships/slide" Target="/ppt/slides/slide30.xml" Id="Re205d61d43f54a46" /><Relationship Type="http://schemas.openxmlformats.org/officeDocument/2006/relationships/slide" Target="/ppt/slides/slide31.xml" Id="R87332ad960f24789" /><Relationship Type="http://schemas.openxmlformats.org/officeDocument/2006/relationships/slide" Target="/ppt/slides/slide32.xml" Id="R02cb9c5e3b5b4adf" /><Relationship Type="http://schemas.openxmlformats.org/officeDocument/2006/relationships/slide" Target="/ppt/slides/slide33.xml" Id="Rb248905337794d38" /><Relationship Type="http://schemas.openxmlformats.org/officeDocument/2006/relationships/slide" Target="/ppt/slides/slide34.xml" Id="R91509b3c24fe4f79" /><Relationship Type="http://schemas.openxmlformats.org/officeDocument/2006/relationships/slide" Target="/ppt/slides/slide35.xml" Id="R1c097900a2704f1b" /><Relationship Type="http://schemas.openxmlformats.org/officeDocument/2006/relationships/slide" Target="/ppt/slides/slide36.xml" Id="R88286663502b470d" /><Relationship Type="http://schemas.openxmlformats.org/officeDocument/2006/relationships/slide" Target="/ppt/slides/slide37.xml" Id="Rab2bbb3c3a0742f2" /><Relationship Type="http://schemas.openxmlformats.org/officeDocument/2006/relationships/slide" Target="/ppt/slides/slide38.xml" Id="R6b05e2ee57b24aeb" /><Relationship Type="http://schemas.openxmlformats.org/officeDocument/2006/relationships/slide" Target="/ppt/slides/slide39.xml" Id="R153bb5b93cd04d96" /><Relationship Type="http://schemas.openxmlformats.org/officeDocument/2006/relationships/slide" Target="/ppt/slides/slide40.xml" Id="R1725e91e1b3a4a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b734011a9a4f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c5487b033e49bc" /><Relationship Type="http://schemas.openxmlformats.org/officeDocument/2006/relationships/notesMaster" Target="/ppt/notesMasters/notesMaster1.xml" Id="Reb066728904841c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6869b49cf2f433c" /><Relationship Type="http://schemas.openxmlformats.org/officeDocument/2006/relationships/notesMaster" Target="/ppt/notesMasters/notesMaster1.xml" Id="R4c5c25a459254f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6c948ac93a4451" /><Relationship Type="http://schemas.openxmlformats.org/officeDocument/2006/relationships/notesMaster" Target="/ppt/notesMasters/notesMaster1.xml" Id="R93d14cd5773b49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f51365d2ae4bb9" /><Relationship Type="http://schemas.openxmlformats.org/officeDocument/2006/relationships/notesMaster" Target="/ppt/notesMasters/notesMaster1.xml" Id="R30c9886b0e1542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26ba9621044a62" /><Relationship Type="http://schemas.openxmlformats.org/officeDocument/2006/relationships/notesMaster" Target="/ppt/notesMasters/notesMaster1.xml" Id="Rb4a7773acd3a46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ec9034bc344e67" /><Relationship Type="http://schemas.openxmlformats.org/officeDocument/2006/relationships/notesMaster" Target="/ppt/notesMasters/notesMaster1.xml" Id="R0362a92092984d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54a8b9f9ba4dea" /><Relationship Type="http://schemas.openxmlformats.org/officeDocument/2006/relationships/notesMaster" Target="/ppt/notesMasters/notesMaster1.xml" Id="R89ecc841a28645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bab66156b64767" /><Relationship Type="http://schemas.openxmlformats.org/officeDocument/2006/relationships/notesMaster" Target="/ppt/notesMasters/notesMaster1.xml" Id="R77c5c0a1ecac41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5c98b3bbe1a4566" /><Relationship Type="http://schemas.openxmlformats.org/officeDocument/2006/relationships/notesMaster" Target="/ppt/notesMasters/notesMaster1.xml" Id="R7de13f46e802445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483de5e7b4c4a16" /><Relationship Type="http://schemas.openxmlformats.org/officeDocument/2006/relationships/notesMaster" Target="/ppt/notesMasters/notesMaster1.xml" Id="Rf235a7ff73ad4a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f721a25e0443c7" /><Relationship Type="http://schemas.openxmlformats.org/officeDocument/2006/relationships/notesMaster" Target="/ppt/notesMasters/notesMaster1.xml" Id="R58ea358163624b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70ef431665e44e1" /><Relationship Type="http://schemas.openxmlformats.org/officeDocument/2006/relationships/notesMaster" Target="/ppt/notesMasters/notesMaster1.xml" Id="R6dbbb0d5ee054d6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884f36c65da430a" /><Relationship Type="http://schemas.openxmlformats.org/officeDocument/2006/relationships/notesMaster" Target="/ppt/notesMasters/notesMaster1.xml" Id="R6d496637394643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21e6a2ab534875" /><Relationship Type="http://schemas.openxmlformats.org/officeDocument/2006/relationships/notesMaster" Target="/ppt/notesMasters/notesMaster1.xml" Id="R9b13635b393342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7abf71826344e5" /><Relationship Type="http://schemas.openxmlformats.org/officeDocument/2006/relationships/notesMaster" Target="/ppt/notesMasters/notesMaster1.xml" Id="Ra18f3bd135bd4c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fb6407b782a44ec" /><Relationship Type="http://schemas.openxmlformats.org/officeDocument/2006/relationships/notesMaster" Target="/ppt/notesMasters/notesMaster1.xml" Id="Ra43407a8e44345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f6aacb4d0944211" /><Relationship Type="http://schemas.openxmlformats.org/officeDocument/2006/relationships/notesMaster" Target="/ppt/notesMasters/notesMaster1.xml" Id="R02a43bf405b44d6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406aaf20a064684" /><Relationship Type="http://schemas.openxmlformats.org/officeDocument/2006/relationships/notesMaster" Target="/ppt/notesMasters/notesMaster1.xml" Id="Rb1eec35d431d4d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2b27e672e34231" /><Relationship Type="http://schemas.openxmlformats.org/officeDocument/2006/relationships/notesMaster" Target="/ppt/notesMasters/notesMaster1.xml" Id="Re3378aa89cd34ac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697dddb5b64b2c" /><Relationship Type="http://schemas.openxmlformats.org/officeDocument/2006/relationships/notesMaster" Target="/ppt/notesMasters/notesMaster1.xml" Id="R1b68868efb1e453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27feaed5dd14cda" /><Relationship Type="http://schemas.openxmlformats.org/officeDocument/2006/relationships/notesMaster" Target="/ppt/notesMasters/notesMaster1.xml" Id="Rab53cb918ebd4a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e394e34b0614f6f" /><Relationship Type="http://schemas.openxmlformats.org/officeDocument/2006/relationships/notesMaster" Target="/ppt/notesMasters/notesMaster1.xml" Id="R6e4b407ff3604a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d9f0a65424e4bef" /><Relationship Type="http://schemas.openxmlformats.org/officeDocument/2006/relationships/notesMaster" Target="/ppt/notesMasters/notesMaster1.xml" Id="R77b3247dca6b4d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daf23a720644066" /><Relationship Type="http://schemas.openxmlformats.org/officeDocument/2006/relationships/notesMaster" Target="/ppt/notesMasters/notesMaster1.xml" Id="R7ba9704c640a488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1fbed6fcecb4b59" /><Relationship Type="http://schemas.openxmlformats.org/officeDocument/2006/relationships/notesMaster" Target="/ppt/notesMasters/notesMaster1.xml" Id="R87da5920aea94f8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3122a510084a3a" /><Relationship Type="http://schemas.openxmlformats.org/officeDocument/2006/relationships/notesMaster" Target="/ppt/notesMasters/notesMaster1.xml" Id="Rc22d5fea1b2a404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35a3a73eb7a4607" /><Relationship Type="http://schemas.openxmlformats.org/officeDocument/2006/relationships/notesMaster" Target="/ppt/notesMasters/notesMaster1.xml" Id="R71fe15eeb66e4a2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9077f11780b4cda" /><Relationship Type="http://schemas.openxmlformats.org/officeDocument/2006/relationships/notesMaster" Target="/ppt/notesMasters/notesMaster1.xml" Id="R0b26d439f74140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41a5a5eac644612" /><Relationship Type="http://schemas.openxmlformats.org/officeDocument/2006/relationships/notesMaster" Target="/ppt/notesMasters/notesMaster1.xml" Id="Rd55ceb1c1d584b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ac21d665b294174" /><Relationship Type="http://schemas.openxmlformats.org/officeDocument/2006/relationships/notesMaster" Target="/ppt/notesMasters/notesMaster1.xml" Id="R8804e5d7d01d49c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81b7beaa0b44677" /><Relationship Type="http://schemas.openxmlformats.org/officeDocument/2006/relationships/notesMaster" Target="/ppt/notesMasters/notesMaster1.xml" Id="R57e6bdc8c6fc40b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19effd41fc44e21" /><Relationship Type="http://schemas.openxmlformats.org/officeDocument/2006/relationships/notesMaster" Target="/ppt/notesMasters/notesMaster1.xml" Id="R0954bd415e304a9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35a2a9e06cb461f" /><Relationship Type="http://schemas.openxmlformats.org/officeDocument/2006/relationships/notesMaster" Target="/ppt/notesMasters/notesMaster1.xml" Id="R8635db654a24445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3672a7a9b3647a4" /><Relationship Type="http://schemas.openxmlformats.org/officeDocument/2006/relationships/notesMaster" Target="/ppt/notesMasters/notesMaster1.xml" Id="R7271fdc058324b9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c8306eab3e04a6e" /><Relationship Type="http://schemas.openxmlformats.org/officeDocument/2006/relationships/notesMaster" Target="/ppt/notesMasters/notesMaster1.xml" Id="R482af820af374b2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7b1e3d7d2374f8d" /><Relationship Type="http://schemas.openxmlformats.org/officeDocument/2006/relationships/notesMaster" Target="/ppt/notesMasters/notesMaster1.xml" Id="Rfa8016005b31438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0d82a9284fd480e" /><Relationship Type="http://schemas.openxmlformats.org/officeDocument/2006/relationships/notesMaster" Target="/ppt/notesMasters/notesMaster1.xml" Id="Rb5412a97fe8143c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a07c6f8e0de42ce" /><Relationship Type="http://schemas.openxmlformats.org/officeDocument/2006/relationships/notesMaster" Target="/ppt/notesMasters/notesMaster1.xml" Id="Rafbd631f123b491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12f916a764c49ad" /><Relationship Type="http://schemas.openxmlformats.org/officeDocument/2006/relationships/notesMaster" Target="/ppt/notesMasters/notesMaster1.xml" Id="R8509e60001ac4dd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556a7d2efaf4719" /><Relationship Type="http://schemas.openxmlformats.org/officeDocument/2006/relationships/notesMaster" Target="/ppt/notesMasters/notesMaster1.xml" Id="R70723322f9f74d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本页为研究封面，无外部非平凡事实陈述。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研究问题由用户需求与产品现状归纳，无外部事实陈述。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结论为对官方资料的分析综合。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https://support.google.com/gemininotebook/answer/16164461?hl=en</a:t>
            </a:r>
          </a:p>
          <a:p xmlns:a="http://schemas.openxmlformats.org/drawingml/2006/main">
            <a:r>
              <a:t>- https://outliner.tana.inc/learn/tutorials/meeting-note-taking</a:t>
            </a:r>
          </a:p>
          <a:p xmlns:a="http://schemas.openxmlformats.org/drawingml/2006/main">
            <a:r>
              <a:t>- https://guide.fireflies.ai/articles/1208704416-getting-started-with-the-fireflies-desktop-app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五种含义为研究归纳，不是厂商使用的统一分类。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https://support.google.com/gemininotebook/answer/16206563?hl=en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https://www.notion.com/help/what-is-a-database</a:t>
            </a:r>
          </a:p>
          <a:p xmlns:a="http://schemas.openxmlformats.org/drawingml/2006/main">
            <a:r>
              <a:t>- https://docs.capacities.io/reference/organizational-structures</a:t>
            </a:r>
          </a:p>
          <a:p xmlns:a="http://schemas.openxmlformats.org/drawingml/2006/main">
            <a:r>
              <a:t>- https://guide.fireflies.ai/articles/6653885315-learn-about-the-fireflies-notepad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四层模型为本研究提出的产品框架。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生命周期和复用方式为分析判断；Notebook/Project 的产品定义来自官方文档。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https://support.google.com/gemininotebook/answer/16206563?hl=en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https://www.perplexity.ai/help-center/en/articles/10352961-what-are-spaces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产品家族为分析分类。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https://www.notion.com/help/notion-ai-faqs</a:t>
            </a:r>
          </a:p>
          <a:p xmlns:a="http://schemas.openxmlformats.org/drawingml/2006/main">
            <a:r>
              <a:t>- https://meeting.tencent.com/support/topic/2214/index.html</a:t>
            </a:r>
          </a:p>
          <a:p xmlns:a="http://schemas.openxmlformats.org/drawingml/2006/main">
            <a:r>
              <a:t>- https://docs.readwise.io/reader/docs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评估维度为本研究建立的分析框架。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章节分隔页。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https://developer.cloud.tencent.com/techpedia/2613</a:t>
            </a:r>
          </a:p>
          <a:p xmlns:a="http://schemas.openxmlformats.org/drawingml/2006/main">
            <a:r>
              <a:t>- https://static.www.tencent.com/attachments/ssv/2025/tencent-ssv-report-2024.pdf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https://support.google.com/gemininotebook/answer/16164461?hl=en</a:t>
            </a:r>
          </a:p>
          <a:p xmlns:a="http://schemas.openxmlformats.org/drawingml/2006/main">
            <a:r>
              <a:t>- https://support.google.com/gemininotebook/answer/16215270?hl=en</a:t>
            </a:r>
          </a:p>
          <a:p xmlns:a="http://schemas.openxmlformats.org/drawingml/2006/main">
            <a:r>
              <a:t>- https://support.google.com/gemininotebook/answer/16179559?hl=en</a:t>
            </a:r>
          </a:p>
          <a:p xmlns:a="http://schemas.openxmlformats.org/drawingml/2006/main">
            <a:r>
              <a:t>- https://support.google.com/gemininotebook/answer/16212820?hl=en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https://support.claude.com/en/articles/9517075-what-are-projects</a:t>
            </a:r>
          </a:p>
          <a:p xmlns:a="http://schemas.openxmlformats.org/drawingml/2006/main">
            <a:r>
              <a:t>- https://support.claude.com/en/articles/11473015-retrieval-augmented-generation-rag-for-projects</a:t>
            </a:r>
          </a:p>
          <a:p xmlns:a="http://schemas.openxmlformats.org/drawingml/2006/main">
            <a:r>
              <a:t>- https://support.claude.com/en/articles/8241126-upload-files-to-claude</a:t>
            </a:r>
          </a:p>
          <a:p xmlns:a="http://schemas.openxmlformats.org/drawingml/2006/main">
            <a:r>
              <a:t>- https://support.claude.com/en/articles/12111783-create-and-edit-files-with-claude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https://www.perplexity.ai/help-center/en/articles/10352961-what-are-spaces</a:t>
            </a:r>
          </a:p>
          <a:p xmlns:a="http://schemas.openxmlformats.org/drawingml/2006/main">
            <a:r>
              <a:t>- https://www.perplexity.ai/help-center/en/articles/10354807-file-uploads</a:t>
            </a:r>
          </a:p>
          <a:p xmlns:a="http://schemas.openxmlformats.org/drawingml/2006/main">
            <a:r>
              <a:t>- https://www.perplexity.ai/help-center/en/articles/10738684-what-is-research-mode</a:t>
            </a:r>
          </a:p>
          <a:p xmlns:a="http://schemas.openxmlformats.org/drawingml/2006/main">
            <a:r>
              <a:t>- https://www.perplexity.ai/help-center/en/articles/12528830-creating-assets-with-perplexity-overview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矩阵为官方资料基础上的分析判断，不是厂商官方评分。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https://support.google.com/gemininotebook/answer/16164461?hl=en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https://support.claude.com/en/articles/9517075-what-are-projects</a:t>
            </a:r>
          </a:p>
          <a:p xmlns:a="http://schemas.openxmlformats.org/drawingml/2006/main">
            <a:r>
              <a:t>- https://www.perplexity.ai/help-center/en/articles/10352961-what-are-spaces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章节分隔页。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https://www.notion.com/help/ai-meeting-notes</a:t>
            </a:r>
          </a:p>
          <a:p xmlns:a="http://schemas.openxmlformats.org/drawingml/2006/main">
            <a:r>
              <a:t>- https://www.notion.com/help/what-is-a-database</a:t>
            </a:r>
          </a:p>
          <a:p xmlns:a="http://schemas.openxmlformats.org/drawingml/2006/main">
            <a:r>
              <a:t>- https://www.notion.com/help/sharing-and-permissions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https://obsidian.md/</a:t>
            </a:r>
          </a:p>
          <a:p xmlns:a="http://schemas.openxmlformats.org/drawingml/2006/main">
            <a:r>
              <a:t>- https://obsidian.md/canvas</a:t>
            </a:r>
          </a:p>
          <a:p xmlns:a="http://schemas.openxmlformats.org/drawingml/2006/main">
            <a:r>
              <a:t>- https://obsidian.md/help/web-clipper</a:t>
            </a:r>
          </a:p>
          <a:p xmlns:a="http://schemas.openxmlformats.org/drawingml/2006/main">
            <a:r>
              <a:t>- https://help.obsidian.md/Obsidian%20Sync/Security%20and%20privacy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https://outliner.tana.inc/learn/features/supertags</a:t>
            </a:r>
          </a:p>
          <a:p xmlns:a="http://schemas.openxmlformats.org/drawingml/2006/main">
            <a:r>
              <a:t>- https://outliner.tana.inc/learn/tutorials/meeting-note-taking</a:t>
            </a:r>
          </a:p>
          <a:p xmlns:a="http://schemas.openxmlformats.org/drawingml/2006/main">
            <a:r>
              <a:t>- https://outliner.tana.inc/learn/features/mobile-voice-memos</a:t>
            </a:r>
          </a:p>
          <a:p xmlns:a="http://schemas.openxmlformats.org/drawingml/2006/main">
            <a:r>
              <a:t>- https://outliner.tana.inc/learn/features/ai-chat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https://docs.capacities.io/reference/organizational-structures</a:t>
            </a:r>
          </a:p>
          <a:p xmlns:a="http://schemas.openxmlformats.org/drawingml/2006/main">
            <a:r>
              <a:t>- https://docs.capacities.io/tutorials/getting-started</a:t>
            </a:r>
          </a:p>
          <a:p xmlns:a="http://schemas.openxmlformats.org/drawingml/2006/main">
            <a:r>
              <a:t>- https://docs.capacities.io/reference/ai-chat-connectors</a:t>
            </a:r>
          </a:p>
          <a:p xmlns:a="http://schemas.openxmlformats.org/drawingml/2006/main">
            <a:r>
              <a:t>- https://docs.capacities.io/misc/offline-support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https://heptabase.com/</a:t>
            </a:r>
          </a:p>
          <a:p xmlns:a="http://schemas.openxmlformats.org/drawingml/2006/main">
            <a:r>
              <a:t>- https://wiki.heptabase.com/</a:t>
            </a:r>
          </a:p>
          <a:p xmlns:a="http://schemas.openxmlformats.org/drawingml/2006/main">
            <a:r>
              <a:t>- https://support.heptabase.com/en/articles/12679581-how-to-use-heptabase-mcp</a:t>
            </a:r>
          </a:p>
          <a:p xmlns:a="http://schemas.openxmlformats.org/drawingml/2006/main">
            <a:r>
              <a:t>- https://support.heptabase.com/en/articles/10410165-what-does-your-local-storage-is-almost-full-mean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https://docs.readwise.io/reader/docs</a:t>
            </a:r>
          </a:p>
          <a:p xmlns:a="http://schemas.openxmlformats.org/drawingml/2006/main">
            <a:r>
              <a:t>- https://docs.readwise.io/reader/docs/faqs/adding-new-content</a:t>
            </a:r>
          </a:p>
          <a:p xmlns:a="http://schemas.openxmlformats.org/drawingml/2006/main">
            <a:r>
              <a:t>- https://docs.readwise.io/reader/guides/ghostreader/overview</a:t>
            </a:r>
          </a:p>
          <a:p xmlns:a="http://schemas.openxmlformats.org/drawingml/2006/main">
            <a:r>
              <a:t>- https://help.remnote.com/en/articles/6690975-learning-from-pdfs-and-files-with-the-remnote-reader</a:t>
            </a:r>
          </a:p>
          <a:p xmlns:a="http://schemas.openxmlformats.org/drawingml/2006/main">
            <a:r>
              <a:t>- https://help.remnote.com/en/articles/10103884-ai-tutor-chat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矩阵为官方资料基础上的分析判断，不是厂商官方评分。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https://obsidian.md/</a:t>
            </a:r>
          </a:p>
          <a:p xmlns:a="http://schemas.openxmlformats.org/drawingml/2006/main">
            <a:r>
              <a:t>- https://outliner.tana.inc/learn/features/supertags</a:t>
            </a:r>
          </a:p>
          <a:p xmlns:a="http://schemas.openxmlformats.org/drawingml/2006/main">
            <a:r>
              <a:t>- https://docs.capacities.io/reference/organizational-structures</a:t>
            </a:r>
          </a:p>
          <a:p xmlns:a="http://schemas.openxmlformats.org/drawingml/2006/main">
            <a:r>
              <a:t>- https://support.heptabase.com/en/articles/12679581-how-to-use-heptabase-mcp</a:t>
            </a:r>
          </a:p>
          <a:p xmlns:a="http://schemas.openxmlformats.org/drawingml/2006/main">
            <a:r>
              <a:t>- https://docs.readwise.io/reader/docs</a:t>
            </a:r>
          </a:p>
          <a:p xmlns:a="http://schemas.openxmlformats.org/drawingml/2006/main">
            <a:r>
              <a:t>- https://help.remnote.com/en/articles/10103884-ai-tutor-chat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章节分隔页。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https://meeting.tencent.com/support/topic/2214/index.html</a:t>
            </a:r>
          </a:p>
          <a:p xmlns:a="http://schemas.openxmlformats.org/drawingml/2006/main">
            <a:r>
              <a:t>- https://meeting.tencent.com/support/topic/2228/index.html</a:t>
            </a:r>
          </a:p>
          <a:p xmlns:a="http://schemas.openxmlformats.org/drawingml/2006/main">
            <a:r>
              <a:t>- https://meeting.tencent.com/support/topic/2062/</a:t>
            </a:r>
          </a:p>
          <a:p xmlns:a="http://schemas.openxmlformats.org/drawingml/2006/main">
            <a:r>
              <a:t>- https://meeting.tencent.com/support/topic/2082/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https://support.plaud.ai/hc/en-us/articles/54643893661977-Does-Plaud-support-real-time-transcription</a:t>
            </a:r>
          </a:p>
          <a:p xmlns:a="http://schemas.openxmlformats.org/drawingml/2006/main">
            <a:r>
              <a:t>- https://global.plaud.ai/pages/plaud-desktop</a:t>
            </a:r>
          </a:p>
          <a:p xmlns:a="http://schemas.openxmlformats.org/drawingml/2006/main">
            <a:r>
              <a:t>- https://support.plaud.ai/hc/en-us/articles/50609128298521-Highlights-Multimodal-Input</a:t>
            </a:r>
          </a:p>
          <a:p xmlns:a="http://schemas.openxmlformats.org/drawingml/2006/main">
            <a:r>
              <a:t>- https://support.plaud.ai/hc/en-us/articles/50810294218137-Ask-Across-All-Files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https://docs.granola.ai/help-center/taking-notes/transcription</a:t>
            </a:r>
          </a:p>
          <a:p xmlns:a="http://schemas.openxmlformats.org/drawingml/2006/main">
            <a:r>
              <a:t>- https://help.granola.ai/article/ai-enhanced-notes</a:t>
            </a:r>
          </a:p>
          <a:p xmlns:a="http://schemas.openxmlformats.org/drawingml/2006/main">
            <a:r>
              <a:t>- https://help.granola.ai/article/chatting-with-your-meetings</a:t>
            </a:r>
          </a:p>
          <a:p xmlns:a="http://schemas.openxmlformats.org/drawingml/2006/main">
            <a:r>
              <a:t>- https://www.granola.ai/security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https://help.otter.ai/hc/en-us/articles/35973988280215-Otter-Desktop-App-Mac-Windows</a:t>
            </a:r>
          </a:p>
          <a:p xmlns:a="http://schemas.openxmlformats.org/drawingml/2006/main">
            <a:r>
              <a:t>- https://help.otter.ai/hc/en-us/articles/5093228433687-Conversation-Page-Overview</a:t>
            </a:r>
          </a:p>
          <a:p xmlns:a="http://schemas.openxmlformats.org/drawingml/2006/main">
            <a:r>
              <a:t>- https://help.otter.ai/hc/en-us/articles/19682180167575-Otter-AI-Chat-Overview</a:t>
            </a:r>
          </a:p>
          <a:p xmlns:a="http://schemas.openxmlformats.org/drawingml/2006/main">
            <a:r>
              <a:t>- https://otter.ai/pricing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https://guide.fireflies.ai/articles/1208704416-getting-started-with-the-fireflies-desktop-app</a:t>
            </a:r>
          </a:p>
          <a:p xmlns:a="http://schemas.openxmlformats.org/drawingml/2006/main">
            <a:r>
              <a:t>- https://guide.fireflies.ai/articles/6653885315-learn-about-the-fireflies-notepad</a:t>
            </a:r>
          </a:p>
          <a:p xmlns:a="http://schemas.openxmlformats.org/drawingml/2006/main">
            <a:r>
              <a:t>- https://guide.fireflies.ai/articles/1512776728-learn-about-global-askfred</a:t>
            </a:r>
          </a:p>
          <a:p xmlns:a="http://schemas.openxmlformats.org/drawingml/2006/main">
            <a:r>
              <a:t>- https://guide.fireflies.ai/articles/9592347753-how-long-can-fireflies-stay-in-your-meetings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矩阵为官方资料基础上的分析判断，不是厂商官方评分。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https://meeting.tencent.com/support/topic/2214/index.html</a:t>
            </a:r>
          </a:p>
          <a:p xmlns:a="http://schemas.openxmlformats.org/drawingml/2006/main">
            <a:r>
              <a:t>- https://support.plaud.ai/hc/en-us/articles/54643893661977-Does-Plaud-support-real-time-transcription</a:t>
            </a:r>
          </a:p>
          <a:p xmlns:a="http://schemas.openxmlformats.org/drawingml/2006/main">
            <a:r>
              <a:t>- https://docs.granola.ai/help-center/taking-notes/transcription</a:t>
            </a:r>
          </a:p>
          <a:p xmlns:a="http://schemas.openxmlformats.org/drawingml/2006/main">
            <a:r>
              <a:t>- https://help.otter.ai/hc/en-us/articles/35973988280215-Otter-Desktop-App-Mac-Windows</a:t>
            </a:r>
          </a:p>
          <a:p xmlns:a="http://schemas.openxmlformats.org/drawingml/2006/main">
            <a:r>
              <a:t>- https://guide.fireflies.ai/articles/1208704416-getting-started-with-the-fireflies-desktop-app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矩阵为官方资料基础上的分析判断。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https://support.google.com/gemininotebook/answer/16164461?hl=en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https://support.claude.com/en/articles/9517075-what-are-projects</a:t>
            </a:r>
          </a:p>
          <a:p xmlns:a="http://schemas.openxmlformats.org/drawingml/2006/main">
            <a:r>
              <a:t>- https://www.perplexity.ai/help-center/en/articles/10352961-what-are-spaces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https://obsidian.md/</a:t>
            </a:r>
          </a:p>
          <a:p xmlns:a="http://schemas.openxmlformats.org/drawingml/2006/main">
            <a:r>
              <a:t>- https://outliner.tana.inc/learn/features/supertags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矩阵为官方资料基础上的分析判断。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https://docs.capacities.io/reference/organizational-structures</a:t>
            </a:r>
          </a:p>
          <a:p xmlns:a="http://schemas.openxmlformats.org/drawingml/2006/main">
            <a:r>
              <a:t>- https://support.heptabase.com/en/articles/12679581-how-to-use-heptabase-mcp</a:t>
            </a:r>
          </a:p>
          <a:p xmlns:a="http://schemas.openxmlformats.org/drawingml/2006/main">
            <a:r>
              <a:t>- https://docs.readwise.io/reader/docs</a:t>
            </a:r>
          </a:p>
          <a:p xmlns:a="http://schemas.openxmlformats.org/drawingml/2006/main">
            <a:r>
              <a:t>- https://help.remnote.com/en/articles/10103884-ai-tutor-chat</a:t>
            </a:r>
          </a:p>
          <a:p xmlns:a="http://schemas.openxmlformats.org/drawingml/2006/main">
            <a:r>
              <a:t>- https://meeting.tencent.com/support/topic/2214/index.html</a:t>
            </a:r>
          </a:p>
          <a:p xmlns:a="http://schemas.openxmlformats.org/drawingml/2006/main">
            <a:r>
              <a:t>- https://support.plaud.ai/hc/en-us/articles/50810294218137-Ask-Across-All-Files</a:t>
            </a:r>
          </a:p>
          <a:p xmlns:a="http://schemas.openxmlformats.org/drawingml/2006/main">
            <a:r>
              <a:t>- https://help.granola.ai/article/chatting-with-your-meetings</a:t>
            </a:r>
          </a:p>
          <a:p xmlns:a="http://schemas.openxmlformats.org/drawingml/2006/main">
            <a:r>
              <a:t>- https://help.otter.ai/hc/en-us/articles/19682180167575-Otter-AI-Chat-Overview</a:t>
            </a:r>
          </a:p>
          <a:p xmlns:a="http://schemas.openxmlformats.org/drawingml/2006/main">
            <a:r>
              <a:t>- https://guide.fireflies.ai/articles/1512776728-learn-about-global-askfred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五种知识模型为官方产品结构基础上的分析归纳。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https://support.google.com/gemininotebook/answer/16206563?hl=en</a:t>
            </a:r>
          </a:p>
          <a:p xmlns:a="http://schemas.openxmlformats.org/drawingml/2006/main">
            <a:r>
              <a:t>- https://help.openai.com/en/articles/10169521-chatgpt-projects</a:t>
            </a:r>
          </a:p>
          <a:p xmlns:a="http://schemas.openxmlformats.org/drawingml/2006/main">
            <a:r>
              <a:t>- https://docs.capacities.io/reference/organizational-structures</a:t>
            </a:r>
          </a:p>
          <a:p xmlns:a="http://schemas.openxmlformats.org/drawingml/2006/main">
            <a:r>
              <a:t>- https://wiki.heptabase.com/</a:t>
            </a:r>
          </a:p>
          <a:p xmlns:a="http://schemas.openxmlformats.org/drawingml/2006/main">
            <a:r>
              <a:t>- https://guide.fireflies.ai/articles/6653885315-learn-about-the-fireflies-notepad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产品在各阶段的代表性为分析判断。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https://docs.readwise.io/reader/docs</a:t>
            </a:r>
          </a:p>
          <a:p xmlns:a="http://schemas.openxmlformats.org/drawingml/2006/main">
            <a:r>
              <a:t>- https://support.plaud.ai/hc/en-us/articles/50609128298521-Highlights-Multimodal-Input</a:t>
            </a:r>
          </a:p>
          <a:p xmlns:a="http://schemas.openxmlformats.org/drawingml/2006/main">
            <a:r>
              <a:t>- https://support.google.com/gemininotebook/answer/16164461?hl=en</a:t>
            </a:r>
          </a:p>
          <a:p xmlns:a="http://schemas.openxmlformats.org/drawingml/2006/main">
            <a:r>
              <a:t>- https://outliner.tana.inc/learn/features/supertags</a:t>
            </a:r>
          </a:p>
          <a:p xmlns:a="http://schemas.openxmlformats.org/drawingml/2006/main">
            <a:r>
              <a:t>- https://www.notion.com/help/enterprise-search</a:t>
            </a:r>
          </a:p>
          <a:p xmlns:a="http://schemas.openxmlformats.org/drawingml/2006/main">
            <a:r>
              <a:t>- https://help.openai.com/en/articles/10500283-deep-research</a:t>
            </a:r>
          </a:p>
          <a:p xmlns:a="http://schemas.openxmlformats.org/drawingml/2006/main">
            <a:r>
              <a:t>- https://help.remnote.com/en/articles/10103884-ai-tutor-chat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UX 模式为官方交互说明基础上的分析归纳。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https://apps.apple.com/cn/app/ima-%E8%85%BE%E8%AE%AFai%E7%9F%A5%E8%AF%86%E7%AE%A1%E5%AE%B6/id6737188438</a:t>
            </a:r>
          </a:p>
          <a:p xmlns:a="http://schemas.openxmlformats.org/drawingml/2006/main">
            <a:r>
              <a:t>- https://guide.fireflies.ai/articles/1208704416-getting-started-with-the-fireflies-desktop-app</a:t>
            </a:r>
          </a:p>
          <a:p xmlns:a="http://schemas.openxmlformats.org/drawingml/2006/main">
            <a:r>
              <a:t>- https://help.otter.ai/hc/en-us/articles/35973988280215-Otter-Desktop-App-Mac-Windows</a:t>
            </a:r>
          </a:p>
          <a:p xmlns:a="http://schemas.openxmlformats.org/drawingml/2006/main">
            <a:r>
              <a:t>- https://help.granola.ai/article/ai-enhanced-notes</a:t>
            </a:r>
          </a:p>
          <a:p xmlns:a="http://schemas.openxmlformats.org/drawingml/2006/main">
            <a:r>
              <a:t>- https://support.google.com/gemininotebook/answer/16179559?hl=en</a:t>
            </a:r>
          </a:p>
          <a:p xmlns:a="http://schemas.openxmlformats.org/drawingml/2006/main">
            <a:r>
              <a:t>- https://support.claude.com/en/articles/12111783-create-and-edit-files-with-claude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行业缺口为本研究基于竞品机制的综合判断。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https://www.notion.com/help/what-is-a-database</a:t>
            </a:r>
          </a:p>
          <a:p xmlns:a="http://schemas.openxmlformats.org/drawingml/2006/main">
            <a:r>
              <a:t>- https://guide.fireflies.ai/articles/6653885315-learn-about-the-fireflies-notepad</a:t>
            </a:r>
          </a:p>
          <a:p xmlns:a="http://schemas.openxmlformats.org/drawingml/2006/main">
            <a:r>
              <a:t>- https://support.google.com/gemininotebook/answer/16179559?hl=en</a:t>
            </a:r>
          </a:p>
          <a:p xmlns:a="http://schemas.openxmlformats.org/drawingml/2006/main">
            <a:r>
              <a:t>- https://docs.capacities.io/reference/ai-assistant</a:t>
            </a:r>
          </a:p>
          <a:p xmlns:a="http://schemas.openxmlformats.org/drawingml/2006/main">
            <a:r>
              <a:t>- https://obsidian.md/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定位路径与利弊为本研究提出的产品策略。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推荐定位与四支柱为本研究建议。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状态机与长课程基线为结合竞品模式和用户需求提出的产品建议。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https://guide.fireflies.ai/articles/1208704416-getting-started-with-the-fireflies-desktop-app</a:t>
            </a:r>
          </a:p>
          <a:p xmlns:a="http://schemas.openxmlformats.org/drawingml/2006/main">
            <a:r>
              <a:t>- https://help.otter.ai/hc/en-us/articles/35973988280215-Otter-Desktop-App-Mac-Windows</a:t>
            </a:r>
          </a:p>
          <a:p xmlns:a="http://schemas.openxmlformats.org/drawingml/2006/main">
            <a:r>
              <a:t>- https://outliner.tana.inc/learn/tutorials/meeting-note-taking</a:t>
            </a:r>
          </a:p>
          <a:p xmlns:a="http://schemas.openxmlformats.org/drawingml/2006/main">
            <a:r>
              <a:t>- https://meeting.tencent.com/support/topic/2214/index.html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最终决策建议为本研究结论。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f8b60f0684f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15f3e31e904ea0" /><Relationship Type="http://schemas.openxmlformats.org/officeDocument/2006/relationships/slideLayout" Target="/ppt/slideLayouts/slideLayout1.xml" Id="Rdf3edbb075a9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edbb075a9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208864329b47aa" /><Relationship Type="http://schemas.openxmlformats.org/officeDocument/2006/relationships/notesSlide" Target="/ppt/notesSlides/notesSlide1.xml" Id="R936c402075be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7076f10a44d0a" /><Relationship Type="http://schemas.openxmlformats.org/officeDocument/2006/relationships/notesSlide" Target="/ppt/notesSlides/notesSlide2.xml" Id="R7a9b4410f49846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655a35a1134957" /><Relationship Type="http://schemas.openxmlformats.org/officeDocument/2006/relationships/notesSlide" Target="/ppt/notesSlides/notesSlide3.xml" Id="Reb4680da120a4e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8baf08703478f" /><Relationship Type="http://schemas.openxmlformats.org/officeDocument/2006/relationships/notesSlide" Target="/ppt/notesSlides/notesSlide4.xml" Id="R868dc21500b641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da63a87cc49a4" /><Relationship Type="http://schemas.openxmlformats.org/officeDocument/2006/relationships/notesSlide" Target="/ppt/notesSlides/notesSlide5.xml" Id="R57a8ba033d6f49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ec130f6724886" /><Relationship Type="http://schemas.openxmlformats.org/officeDocument/2006/relationships/notesSlide" Target="/ppt/notesSlides/notesSlide6.xml" Id="Rc2736fa8b69847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b9d343a444b30" /><Relationship Type="http://schemas.openxmlformats.org/officeDocument/2006/relationships/notesSlide" Target="/ppt/notesSlides/notesSlide7.xml" Id="R2de31cd1c1ba40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9b3c509334627" /><Relationship Type="http://schemas.openxmlformats.org/officeDocument/2006/relationships/notesSlide" Target="/ppt/notesSlides/notesSlide8.xml" Id="R19ef0fecb72e4e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78fcec077487d" /><Relationship Type="http://schemas.openxmlformats.org/officeDocument/2006/relationships/notesSlide" Target="/ppt/notesSlides/notesSlide9.xml" Id="R85b078bd2427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c1ccb2afe424e" /><Relationship Type="http://schemas.openxmlformats.org/officeDocument/2006/relationships/notesSlide" Target="/ppt/notesSlides/notesSlide10.xml" Id="Rbacb3c566a6245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c03ac720e840b1" /><Relationship Type="http://schemas.openxmlformats.org/officeDocument/2006/relationships/notesSlide" Target="/ppt/notesSlides/notesSlide11.xml" Id="R62fcbfa2824e48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c32fa434d3429b" /><Relationship Type="http://schemas.openxmlformats.org/officeDocument/2006/relationships/notesSlide" Target="/ppt/notesSlides/notesSlide12.xml" Id="Rcf21ddc287e043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815422c3a54f04" /><Relationship Type="http://schemas.openxmlformats.org/officeDocument/2006/relationships/notesSlide" Target="/ppt/notesSlides/notesSlide13.xml" Id="R284cf38f0f434d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fd0b7c2a46c9" /><Relationship Type="http://schemas.openxmlformats.org/officeDocument/2006/relationships/notesSlide" Target="/ppt/notesSlides/notesSlide14.xml" Id="R25d2d63bba7442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3ef8d9e604595" /><Relationship Type="http://schemas.openxmlformats.org/officeDocument/2006/relationships/notesSlide" Target="/ppt/notesSlides/notesSlide15.xml" Id="R252b03c033e945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8f7321311241b4" /><Relationship Type="http://schemas.openxmlformats.org/officeDocument/2006/relationships/notesSlide" Target="/ppt/notesSlides/notesSlide16.xml" Id="Re19df7d3e13c46b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2e01e13be49ac" /><Relationship Type="http://schemas.openxmlformats.org/officeDocument/2006/relationships/notesSlide" Target="/ppt/notesSlides/notesSlide17.xml" Id="Rab605e085d9847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8b836918543f4" /><Relationship Type="http://schemas.openxmlformats.org/officeDocument/2006/relationships/notesSlide" Target="/ppt/notesSlides/notesSlide18.xml" Id="Rc552e8dcceaa4ed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1585bbc744f04" /><Relationship Type="http://schemas.openxmlformats.org/officeDocument/2006/relationships/notesSlide" Target="/ppt/notesSlides/notesSlide19.xml" Id="Rdbe20183751a43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72d2c23064bcd" /><Relationship Type="http://schemas.openxmlformats.org/officeDocument/2006/relationships/notesSlide" Target="/ppt/notesSlides/notesSlide20.xml" Id="Ra563cdfa17604e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6daadcdc404dab" /><Relationship Type="http://schemas.openxmlformats.org/officeDocument/2006/relationships/notesSlide" Target="/ppt/notesSlides/notesSlide21.xml" Id="R0abf888153e044e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66c5381b84199" /><Relationship Type="http://schemas.openxmlformats.org/officeDocument/2006/relationships/notesSlide" Target="/ppt/notesSlides/notesSlide22.xml" Id="Ra0c421a66d5f47f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2fb4cf0c34b4f" /><Relationship Type="http://schemas.openxmlformats.org/officeDocument/2006/relationships/notesSlide" Target="/ppt/notesSlides/notesSlide23.xml" Id="R315c4619d2a74bb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f99d9feec409e" /><Relationship Type="http://schemas.openxmlformats.org/officeDocument/2006/relationships/notesSlide" Target="/ppt/notesSlides/notesSlide24.xml" Id="Ra101ea956a8b45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6b105785845f6" /><Relationship Type="http://schemas.openxmlformats.org/officeDocument/2006/relationships/notesSlide" Target="/ppt/notesSlides/notesSlide25.xml" Id="Rb8f2739c244042f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e256a8b1640af" /><Relationship Type="http://schemas.openxmlformats.org/officeDocument/2006/relationships/notesSlide" Target="/ppt/notesSlides/notesSlide26.xml" Id="R12a4f697940242f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65af75a594b5e" /><Relationship Type="http://schemas.openxmlformats.org/officeDocument/2006/relationships/notesSlide" Target="/ppt/notesSlides/notesSlide27.xml" Id="R15e3d22eed054ba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c44c0edfc4c11" /><Relationship Type="http://schemas.openxmlformats.org/officeDocument/2006/relationships/notesSlide" Target="/ppt/notesSlides/notesSlide28.xml" Id="R50e5d5eefee24d3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5b202e6a24d21" /><Relationship Type="http://schemas.openxmlformats.org/officeDocument/2006/relationships/notesSlide" Target="/ppt/notesSlides/notesSlide29.xml" Id="R7a2b8587d15247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58073715b14341" /><Relationship Type="http://schemas.openxmlformats.org/officeDocument/2006/relationships/notesSlide" Target="/ppt/notesSlides/notesSlide30.xml" Id="R2aeb0a8d38934b03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0ca417d44a4d92" /><Relationship Type="http://schemas.openxmlformats.org/officeDocument/2006/relationships/notesSlide" Target="/ppt/notesSlides/notesSlide31.xml" Id="R84b3c005284e494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08496ad834b0e" /><Relationship Type="http://schemas.openxmlformats.org/officeDocument/2006/relationships/notesSlide" Target="/ppt/notesSlides/notesSlide32.xml" Id="R0c3d7aa866ed4ed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04868fedb04061" /><Relationship Type="http://schemas.openxmlformats.org/officeDocument/2006/relationships/notesSlide" Target="/ppt/notesSlides/notesSlide33.xml" Id="R39b2598a716f473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be46aa9a24c86" /><Relationship Type="http://schemas.openxmlformats.org/officeDocument/2006/relationships/notesSlide" Target="/ppt/notesSlides/notesSlide34.xml" Id="R53a759b7d3dc419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8f88e5e354831" /><Relationship Type="http://schemas.openxmlformats.org/officeDocument/2006/relationships/notesSlide" Target="/ppt/notesSlides/notesSlide35.xml" Id="R226c6362b4db49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34c6a1524450" /><Relationship Type="http://schemas.openxmlformats.org/officeDocument/2006/relationships/notesSlide" Target="/ppt/notesSlides/notesSlide36.xml" Id="Rdece780fbe0348d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5297b4f91482f" /><Relationship Type="http://schemas.openxmlformats.org/officeDocument/2006/relationships/notesSlide" Target="/ppt/notesSlides/notesSlide37.xml" Id="R6f7dc9f720a14ba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5dad3ce0b4a96" /><Relationship Type="http://schemas.openxmlformats.org/officeDocument/2006/relationships/notesSlide" Target="/ppt/notesSlides/notesSlide38.xml" Id="R8c37a56f278b4fc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32a67c6b44825" /><Relationship Type="http://schemas.openxmlformats.org/officeDocument/2006/relationships/notesSlide" Target="/ppt/notesSlides/notesSlide39.xml" Id="R58f47e689a5d430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05e6ed84d491c" /><Relationship Type="http://schemas.openxmlformats.org/officeDocument/2006/relationships/notesSlide" Target="/ppt/notesSlides/notesSlide40.xml" Id="Rf9c3fd92205641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4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13CB0-95B5-4043-ACC5-1FBA2010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C9714-223B-439C-9816-9A8CA3AD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0075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6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EB6C4"/>
                </a:solidFill>
                <a:latin typeface="PingFang SC"/>
                <a:ea typeface="PingFang SC"/>
                <a:cs typeface="PingFang SC"/>
              </a:rPr>
              <a:t>COMPETITIVE LANDSCAPE ·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BAC3-78E6-44AC-9677-8C9E126E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715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知识系统</a:t>
            </a:r>
          </a:p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5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竞品研究与定位建议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7A933-D3D0-404E-966B-E50CF4AA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762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C8CFDA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C8CFDA"/>
                </a:solidFill>
                <a:latin typeface="PingFang SC"/>
                <a:ea typeface="PingFang SC"/>
                <a:cs typeface="PingFang SC"/>
              </a:rPr>
              <a:t>从资料、搜索与录音，到可追溯的长期知识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1A0C8-A0B8-4103-81E6-EB2D6D63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581150"/>
            <a:ext cx="2362200" cy="2362200"/>
          </a:xfrm>
          <a:prstGeom xmlns:a="http://schemas.openxmlformats.org/drawingml/2006/main" prst="roundRect">
            <a:avLst>
              <a:gd name="adj" fmla="val 10484"/>
            </a:avLst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13166-9249-451D-A496-CD54FEF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24050"/>
            <a:ext cx="1752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308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SOURCE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KNOWLEDGE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↓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F2189-7DC6-492A-A8BF-D2AD84E0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9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89D64D-31CB-410D-80FC-6281281B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9A2B1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99A2B1"/>
                </a:solidFill>
                <a:latin typeface="PingFang SC"/>
                <a:ea typeface="PingFang SC"/>
                <a:cs typeface="PingFang SC"/>
              </a:rPr>
              <a:t>Gunther 产品备调 · 研究范围：AI 知识助手 / 结构化 PKM / 录音智能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F15A29-F349-433A-9AB4-E562D953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5054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2026.08</a:t>
            </a:r>
          </a:p>
        </p:txBody>
      </p:sp>
    </p:spTree>
    <p:extLst>
      <p:ext uri="{BB962C8B-B14F-4D97-AF65-F5344CB8AC3E}">
        <p14:creationId xmlns:p14="http://schemas.microsoft.com/office/powerpoint/2010/main" val="2042790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EE922-3B84-4AE5-8CFF-0A297042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CDF761-4599-4E22-962A-706E4A42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RESEARCH BRIEF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495E94-EF5A-4E81-8068-A66EC0E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这次调研要回答的，不是“谁功能最多”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F2648E-D1BA-4005-B825-72190BD3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而是：Gunther 应该把哪一种知识形成过程，做得最顺、最可信。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EF136-67AA-4A4A-AF0D-2BF73748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4E49E-FCFE-4EE4-BE3D-27E5D5DF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DE333-DAFC-4DBE-A131-E40C94AB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6C960-74C1-4F57-B8C5-BCEFC348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336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知识从哪里来？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F7682-5E7A-420E-A25F-1DC3E326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5265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论文、书籍、网页、搜索、录音与用户自己的判断如何统一进入系统。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C34690-1464-4FA1-99BE-3AA0F0C8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3B1B-CE88-40C6-873B-F011264F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12F6F8-3064-47B6-ACA1-63433079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工作与存储如何分开？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EA8E8-9D91-4D1E-AEBF-C4C742AE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6705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Session / Notebook / Project 是工作上下文；Library 是长期、可复用的知识资产。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CA474-DADB-497C-ABD3-82E497F96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528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B5CAD0-83CD-4786-8F82-8E7416F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C9811-7C78-4409-9E27-84491AF8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624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知识如何被证明？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7653C-B518-457F-89B3-3BAADE6F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回答、纪要和结论能否回到具体页码、段落、时间戳和原始音频。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BAA7D5-2808-4DE0-B524-C29858ADE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966ABF-92E8-447D-A0CE-34864EB0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AEAD1C-0475-4E62-BA3A-228E29C65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82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录音如何成为一级能力？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36378-19BF-41ED-A149-69CD3FE2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95850"/>
            <a:ext cx="6877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能否独立启动、实时转写、最小化、恢复，并在结束后继续问答、写作与沉淀。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E8BE4-869E-456B-8D8F-4BAFCF67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62DAB-4FC5-4E60-8DBB-019B2C9F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范围：20 个代表产品 · 资料以厂商官方产品页、帮助中心与官方文档为主</a:t>
            </a:r>
          </a:p>
        </p:txBody>
      </p:sp>
    </p:spTree>
    <p:extLst>
      <p:ext uri="{BB962C8B-B14F-4D97-AF65-F5344CB8AC3E}">
        <p14:creationId xmlns:p14="http://schemas.microsoft.com/office/powerpoint/2010/main" val="21423165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3802CC-4862-4151-83C4-6117493F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F4681-EBE4-4D4B-B5BE-6044B92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EXECUTIVE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4F938A-4149-4F06-AC61-249F861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一页结论：市场不缺知识库，缺的是知识形成过程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5303FC-FBC4-4DC1-AF5B-0FDFE9A6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各类产品分别擅长采集、理解、结构、检索或输出，但很少把它们连成一条可核验链路。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A2F57B-B625-4F13-915D-0EAE7D95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15DD25-D75E-44B4-8FC8-E84D437C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7221BC-02AC-4E39-901B-2F5962AD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7429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4AC7F-1A7A-4905-AE2F-2EFB1A6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764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3C595-7297-4952-B68B-C990215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1717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AI Notebook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15775-413E-4074-BDEA-FA8BF03E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来源可控、问答有引用、输出丰富；长期结构与跨库复用偏弱。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1C45B-E7B6-45C9-BE22-613F6C37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7429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F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6E39CE-4C8B-40F4-94ED-13C499D9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4808CC-8F8B-4278-95E6-712B042E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086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Structured PKM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3A3AD-E720-4223-903B-357F8FE3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知识对象和连接可长期生长；入口、Schema 和维护成本通常较高。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75BB4-F9C8-4658-836C-096A5520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7429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0DBF8-4F3D-4103-B703-EE3E8291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52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528ED-879B-4105-8E69-AAB7E24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01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Recording Intelligence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33AE6C-06B8-4DAF-A543-546C5F73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814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实时捕获和会后回顾成熟；录音大多仍被锁在会议/文件孤岛。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0414E8-1F80-4762-84B2-478CB377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74295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A9611B-131A-4E2D-9314-D2EDA817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4B905-E1BE-40E7-820F-214ADB09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149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Gunther 机会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EAAA9-980F-402A-A9BD-FD2468A72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以本地长录音为切口，把证据、结论、审核和输出连成同一条链。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28927C-B17F-4848-A8A0-26BAEBFB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4891731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31964-6AF5-4E18-95C0-5864DCB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AEDA46-AD34-47A8-B88D-7327269E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CORE DIAGNOSIS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B42F4-2B8F-484E-BFC8-38909C0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“知识库”在市场上至少被用了五种不同含义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C86CD-1F58-4BCF-B187-14BA2857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如果不先拆开概念，入口、导航和对象归属会持续互相冲突。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8EB97-67EC-43D8-B4E8-9CB65F7D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2D084-EB47-4BCB-95B6-2AC75AD8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B0D59-D4F9-4B04-A5A4-2A51C955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56C2C-D5FA-49EE-9F2A-7F60F279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市场含义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8B95D-3873-4272-AB2B-7D9D854A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4790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用户实际获得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8CCD6-27C8-496A-8DDF-F1B3735C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247900"/>
            <a:ext cx="40862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代表产品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42196C-B326-41EB-A149-A82D2445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0820400" cy="613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2F48F-493B-4399-A56C-C9CBB70D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946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B2071-692F-4964-9646-32039189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962150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资料容器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3A97E-DA80-41F3-92E8-8858B60E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一组被上传并可问答的来源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5AE84-89BA-4B7E-BEDF-EAC1FE8F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NotebookLM / Claude Projects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DDC71-D4BF-4F6A-A2A5-302C03A2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287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9F48C-FA96-4E04-A245-5EF09387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5660"/>
            <a:ext cx="1962150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长期工作区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0351A-F7F0-44E0-AB2A-0A8BE00F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566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聊天、文件、指令、记忆与任务上下文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860C92-D48C-4C32-8079-05D3B72C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7566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ChatGPT / Perplexity Projects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C32778-2859-4BFB-BA79-09FA21E9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2870"/>
            <a:ext cx="10820400" cy="613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A27E9-622B-44D8-B1CD-0967CBCA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628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E0E66-DD40-48E7-BF4D-4F5DB5B5E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9070"/>
            <a:ext cx="1962150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页面与数据库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E4E3CB-A985-40D9-A61E-45E3EB5F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8907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团队文档、结构化记录和工作流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BF0562-3A4A-471A-AB1F-8795319D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8907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08AF8-7021-4B70-90A8-75A07704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969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973D2B-61F4-4BB6-9938-99EAD566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2480"/>
            <a:ext cx="1962150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对象 / 图谱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D2CFC-810C-4570-A2A0-F40FB745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0248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人、书、会议、概念等可连接知识对象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15AAC1-1EEA-4B0C-92A1-0C5B980E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60248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Tana / Capacities / Obsidian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86845D-3F5E-4273-84CD-CEC613F1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9690"/>
            <a:ext cx="10820400" cy="613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80744F-7CB7-47C6-A9DA-F2151F4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A403BD-925E-46BD-A89C-744F0A59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5890"/>
            <a:ext cx="1962150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录音档案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143F74-CC0E-435C-8E50-3680C992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1589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录音、转写、纪要、待办与回放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25A087-720A-43A9-86F2-B9861612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15890"/>
            <a:ext cx="4086225" cy="499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Plaud / Otter / Fireflies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8F5822-95F9-4179-9E95-D29FE47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设计含义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358B0C-00AD-4F4E-BADE-1093C9D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9245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8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不要让一个 Library 同时承担“启动任务、保存原始文件、组织长期知识、承接所有输出”四种职责。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D31BE-1808-4761-ABFC-FFF1A52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7645212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18F3C6-242E-4ACB-9236-7D12B63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94EEF-AE8F-4A2B-9D0C-206C53B4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CONCEPT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82FC4-1055-48EA-ABFE-DCB1C4BE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建议统一为四层：来源、工作、产物、知识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130FFD-0544-497A-A50E-292B82E4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这四层可以互相连接，但不应互相冒充。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7D86A-4232-4098-9F53-044AD7C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1E43-2784-43C8-85AD-9A9CE637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9D81E-5AC4-4BBE-8A5C-72D6029A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00500"/>
            <a:ext cx="8801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E7F2D-5067-4A90-950E-77FF4F3E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19300" cy="24574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81619-C1C5-4B1F-B399-0A07A837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67000"/>
            <a:ext cx="20193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40D8A4-A4CD-4757-AF55-8EF94166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71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E15423-5D55-47CA-B609-181A9B8F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71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059DF-7B9C-4A73-8EE9-C1F259E0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338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原始来源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2A037-7005-41D0-8B24-E6747C91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148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论文 · 网页 · 音频 · 搜索结果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1179C-A96D-4F96-A281-0DE47468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2019300" cy="24574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E6223A-6427-45C2-B3B8-075C4085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67000"/>
            <a:ext cx="20193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AA683-B556-4C67-80F6-AFF13D17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71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0D3E2-2D33-4301-99A9-1330BB6D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71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WORKSPACE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F67B3E-D3A7-4C04-8906-85332E7F3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338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正在进行的任务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CED29-89C4-4CE6-880E-D0DE4D65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5148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录音 · 解读 · 研究 · 写作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4A6A87-4620-479B-BADF-1F702149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2019300" cy="24574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B3076-8720-48AF-91A8-706B6983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67000"/>
            <a:ext cx="20193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BCEF42-37C7-4AB4-9B33-14854006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71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8A1C6A-287B-4BBC-92C4-84F1F70C0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ARTIFACT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FE49A0-7944-4CDA-8309-4451D689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338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一次任务的产物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22FCAC-E488-454E-AC76-2C258B8B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148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转写 · 纪要 · 报告 · 问答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70CBE0-0667-444A-A1A7-8A83309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2019300" cy="2457450"/>
          </a:xfrm>
          <a:prstGeom xmlns:a="http://schemas.openxmlformats.org/drawingml/2006/main" prst="roundRect">
            <a:avLst>
              <a:gd name="adj" fmla="val 94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5F9A8-4FCB-4608-A1BE-4ECB2A32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67000"/>
            <a:ext cx="2019300" cy="952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8FFCCB-A766-4CEE-B62A-C69566038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718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912861-D18E-41D5-BEED-7E1E7700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7185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KNOWLEDGE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F82955-D970-4A1B-860A-7292855F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审核后的长期知识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5B8A65-75B6-43B6-98C4-EBD37E86B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14850"/>
            <a:ext cx="1600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Claim · Concept · Note · Relation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2EF07-7EE0-4D7E-A9CA-2F587417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同一份 Source 可以被多个 Workspace 使用；一个 Artifact 只有在被选择、引用和审核后，才成为长期 Knowledge。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16E379B-5396-4B6E-9943-9B3D0021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862815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394797-4E7A-44F8-B43D-35C7C133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E57D6-946B-4F8B-98A0-D9CDB3E64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TERMINOLOGY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C9680-C1CF-45D6-A4E2-1E3C98A8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 不是临时草稿；它是“边界明确的工作上下文”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F1A8E-0DC3-4D45-8C92-79F39AA5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真正的区别不在保留多久，而在作用范围、复用方式和知识成熟度。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A2DCCC-B20F-4F9D-8AF4-9967A7A2F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6D254-755F-4135-B93C-FED7414B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12229-98CD-4E1C-B309-86A758A06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B05F7-88E6-4A10-A7AF-D0E05087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EE8BB-F245-495F-B8CC-8AD711DA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362200"/>
            <a:ext cx="280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最适合承载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4447C-B697-4DDE-AA8C-74D62E2A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2362200"/>
            <a:ext cx="280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典型生命周期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D2E3D-7084-4408-B9B2-E2B3FB67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362200"/>
            <a:ext cx="280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是否跨主题复用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539F77-4519-41E5-BDB4-AE75915C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887B6-9AFB-4ABB-82FA-1960BF5B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4BD9E-B788-49F5-98BB-BAEF2CC8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765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Session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F3E149-5E84-465B-A6A2-F60158DA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一次录音 / 问答 / 解读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2AEDA5-D5D9-4B95-B53E-BB2F835A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28765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分钟—数小时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08426-7526-4291-95E9-223C6E49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28765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通常不直接复用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7634C-604E-4134-BE4B-D3581FB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3F3133-FCDC-46D2-AA5A-A2131EE83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16C84-618D-4052-87C5-DF3F2C5F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242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围绕一组来源的研究或学习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BA2426-FC63-47B6-9A0C-014B101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35242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数天—数月，可长期保留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B243A-89E3-4F3C-B6BF-67D45CE0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35242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默认在边界内使用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B4F69E-BFA0-496F-B95E-849DA689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37F518-03D7-4843-8ED2-3BA2A818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2C1926-67DD-422D-9EFD-A4565D09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Project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E95D09-A278-447F-9161-14B6E449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719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长期目标、聊天、文件与任务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7B95DF-1E84-447A-99AF-B2723B59A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1719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数周—数年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5DA44-D699-4720-829E-880E3EBF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1719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主要在项目内复用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3420E9-41F6-4943-848A-8AA0A3E6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5EC740-E7BF-43A6-9CB2-7AC544C7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1485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Library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FB20EA-527E-4903-BA96-CD5AEA1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196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审核后的长期知识与来源索引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885FF-D676-45D5-97EA-D481FFAA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9900" y="48196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长期生长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9E4C25-941A-4730-B79D-7F46CA028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5200" y="4819650"/>
            <a:ext cx="28067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应支持跨任务与跨项目调用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C7BA0E-E2F7-4A20-8DAC-3281BF0A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EF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C7B9A4-F0C0-412D-AD9C-A86CC4DD2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19775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F742F-517B-41B4-B17D-401DEAF2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72150"/>
            <a:ext cx="948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88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 可以非常持久；但它仍是“某个主题的一组来源”，不等于全局、长期、已审核的知识 Library。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3DCD6EC-9468-4A66-A6A8-B441C987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21337622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1AB062-41C7-4E9D-8093-3521A18E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518DC6-DFBA-4B71-93BF-1D0864F1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MARKET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100AF-9523-4D9D-8CE9-C3E4DE5D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四个产品家族，优化的是四种不同的用户承诺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83C4A-8BF0-4954-9D06-E887C100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这不是互斥分类；许多产品正在向相邻家族扩张。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BE140-93F3-4E41-944C-FBC90368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544B2-8BBF-4663-AC07-1E1C7CEB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2EB88-27AB-4CBE-8819-F795E9AD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0" cy="34290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F4823-A383-4751-B903-A2C61217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8F7006-AB05-41C0-823A-382134E9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3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4D9425-51D9-45EC-B027-B27A0B41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AI 知识助手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DBBB6-745C-45A3-BF62-F9828B5B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让我对一组资料提问，并快速变成成品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7A358-4CAC-4D9A-B04B-F840DDA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387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7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9701-1111-4004-8D05-9A14038C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48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76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iMA · NotebookLM · ChatGPT · Claude · Perplexity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01BC6-BBD7-40F0-A79E-9EDE3BCC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476500" cy="34290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FE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BD17B-4F0C-4564-9F8E-3316EC8E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9C5324-73CE-4E7D-8EE3-7F9160A0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53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178479-F86B-4316-83D6-72EA4BDB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9146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结构化 PKM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81E0A-D958-4C32-A85D-8008F91F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766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让我长期组织、连接并拥有自己的知识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E336AE-756D-4AA3-855D-CDB02B58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387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B61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CA961-D3B6-4381-A68F-AF98A30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048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73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Notion · Obsidian · Tana · Capacities · Heptabase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620B64-F4CD-410E-8362-F82F3E2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476500" cy="34290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1D7B3A-7095-4730-9A7B-E516D643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190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1CF65A-180F-4758-898C-DF1FD2F9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3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4CB21-A12A-4338-B49F-AE35BDFE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录音智能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88838C-CD3F-42F7-BBEE-02777C98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766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让我边说边记，结束后快速回顾和行动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7F7F9F-2DC2-4328-BEF1-DB416531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8387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90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B4E2A8-3CC9-4DC2-8D14-7656A085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048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92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腾讯会议 · Plaud · Granola · Otter · Fireflies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1551A8-DA66-4A3B-A9EB-C99665B7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0" cy="34290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E4883A-E287-48EB-B536-55BF7A9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476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EA887-04A8-4928-B0C2-034E3F60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5336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E97314-E767-47FF-AAF8-83CE6BF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914650"/>
            <a:ext cx="2057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阅读 / 学习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4B0B6C-3F95-413E-B0F0-FB5B2539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676650"/>
            <a:ext cx="2057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让我把看过的内容留下、理解并真正记住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6A76E1-C919-4BFD-BE95-5D05F1C0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83870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A8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0AFFB-F551-46F5-8D37-A72FF71C7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48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Readwise Reader · RemNote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9A4F49-3455-4E7F-89AA-75D0A23C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4964448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DA63C-64A3-4AB9-81A9-11C038F5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DB6EC-7238-4F22-8CFA-A2991730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EVALUATION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5F46A-0361-4E81-BB94-F0923A22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统一用八个维度比较，而不是按厂商菜单罗列功能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07E370-24FB-4812-B885-D736071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重点看它是否真正推进了“从来源到知识”的生命周期。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879E5-929B-493B-A970-0E156361A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D008B-2286-4D5B-B7BE-E2A2FCFC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C9E47-FF6C-4AF6-9C07-12161CA9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3D2F11-F8E7-4623-B623-A61D2B67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输入覆盖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48FD6-A76D-44DC-9688-B998803C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文件、网页、搜索、音视频、实时录音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71989-2762-40DA-9C1F-15B0746E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47D9F8-3EAE-441E-8766-49C65F57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Grounding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7087B-AE6B-4DC7-900D-92B3E148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14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证据与引用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4C955F-2E5D-4158-9FE6-C030F39D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能否回到页码、段落、时间戳和原音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69711E-F445-4B70-8A43-B66DC840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19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2E8C1-3353-422A-AD85-52BE24EB6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Understand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ED3F6E-DF06-4FD9-867A-1339A373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67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理解与转换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16C3C-EA78-4268-AD0B-17D6259F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摘要、章节、脑图、问答、测验、报告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613BD3-F35D-4090-A131-D59E3E69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39B6F-2541-4C2B-B844-9DF12A9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861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Structure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7C48E-5D59-4C96-9CEE-9582F6FD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67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持久结构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2E60D7-A3B5-4773-B259-2CF31077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对象、属性、链接、状态、版本与关系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26FA4-4B44-4F33-B2C2-FA9454BF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719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CB134C-3D23-46FC-BC3B-1C652B32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Reuse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4347A7-FC40-404F-B2FB-FF9754E1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19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跨任务复用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9CF33B-40E1-4CA6-9DD3-596D5BC8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跨会话、跨项目、跨知识库调用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414FD6-9DF4-46B7-B2C0-3176AF64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D70A5C-2A20-406D-A20A-852AAE57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386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Create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843694-8AD9-447A-8AA2-19AAE489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195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生成与行动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AED5A-FFA8-413B-952B-092D140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386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文档、PPT、代码、待办、工作流与发布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5CB38A-0A19-4062-8729-50AD7797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7244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54C619-AD39-4653-8040-55AF436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Experience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96CB4E-306F-43C0-BF40-2EA5726E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72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任务体验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B72D63-070D-4826-81B6-21399102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一键启动、后台运行、恢复、进度与结果页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3561CC-5F75-42AC-AC40-E124BBD1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BC71F4-5AC3-4405-9D1F-C1049F43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9911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Trust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48445C-293C-4761-8A44-BBBA9280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9720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39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所有权与治理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9BAB74-6569-4BD5-91B8-7FB9B3BD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91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本地、离线、开放导出、权限、审核状态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ED2F99-BE29-4C2A-AD1E-B5F460FA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676900"/>
            <a:ext cx="5219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79A2A12-258C-4698-95BC-CC00C8F5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7801143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4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93A2CE-E5B1-4AD5-B48C-183B5B97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B8D04-D2F1-4DE5-A531-7549C2B7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5E614-9CEC-4EAF-A7A0-3A8BF7D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8439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知识助手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FA5BB-E0B3-4BDC-99D5-ECC49655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843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42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E2BC0-F01A-40FC-BDA3-F68C6451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8439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共同承诺：把指定来源或持续项目变成可问、可搜、可生成的 AI 工作空间。</a:t>
            </a:r>
          </a:p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核心差异：来源边界、引用强度、输出深度与长期结构。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968F1-856A-4EC2-AF5A-83F695F2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02629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117A1-37DB-455B-901A-E4E44977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DA194-0FF8-4BC5-847D-9CBE9B7E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AI KNOWLEDGE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E2B4E-E532-41DA-82AA-2683F186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腾讯 iMA：最接近“采集—理解—创作—沉淀”一体化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81888B-2C31-4886-9C33-E62017C9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以知识库为底座，围绕“搜—读—写”组织个人、共享与公开知识库。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47132F-FD73-4019-9E5B-5C255160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E140B-6C25-4196-9B2A-0E5410F5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4FB53-1CB1-4464-8B7E-33C5EBB9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84B11-2264-4256-8942-03945E39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CADCF8-C961-47BF-A609-74193B61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知识库 + 笔记 + Copilot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934BCD-1DCB-4A72-A213-E7FAD9B0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B2BE3-BF51-4EB2-B96E-D271492D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45C46-67E5-41A6-9238-D83183FA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本地/微信文件、公众号、网页、图片、音频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1CE36-D5D4-42E6-B007-615FDF2B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D1899-4447-4AEF-99FE-A40118E6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81E76-43A2-4D0C-AA5A-1C62768D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知识库问答 → 录音原文/纪要 → 脑图、播客、测验、文章与配图。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9CC562-1311-402B-A196-30B4A583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B0F7B5-D97E-4D89-BA99-B366B415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C72D5-D2E8-4848-8300-906ABD6B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中国内容生态与入口完整；录音、文档解读、写作都是一级工具；个人/共享/广场形成分发闭环。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9EDEE-A760-49C1-A9DC-E8FCEC26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817E4-848E-4CF5-AF69-B8677CB2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B816E-C2E9-4140-8226-E0394600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录音官方最长 2 小时；跨库检索、精确引用粒度、知识冲突/审核/版本机制未被清楚说明。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49F1F-2E51-4ED3-BFC6-0318ADA3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1029850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D8660A-698C-4375-ACBA-119BDFCF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4DDEC0-E1B4-422B-B5E8-2D05977C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AI KNOWLEDGE COMPANION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6FBDF-73B1-4F4D-A6A3-0A4F861D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NotebookLM：来源约束与 Studio 转化最完整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17FE0-74D3-441A-9A46-3085696A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一个 Notebook 是围绕某个项目的一组独立来源；问答只基于被选中的来源。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A8DCB-6539-4D5D-8BE7-684D59C1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0A9A44-292B-449E-8BCC-3641DADD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8AAFD-C21D-4C4B-9506-B34AED4A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277CF-3B04-4C29-9930-86122765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D7E44F-EEC1-4408-ADE9-89511E3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 = 来源集合 + Chat + Studio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3F163-7833-45E9-833D-E79F2621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F81124-EC78-4E25-A30E-A4F711D3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1A0B7-206A-424B-90B1-F0333BD3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PDF/Office/Google 文件、网页、YouTube、音频、图片、ePub、研究结果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DC587-8062-48AF-8CDB-80D8BD91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C24CB4-8252-4698-805D-7A721F5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1DEE5C-8206-4263-88A9-D65DB5E6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有引用问答 → Notes → Audio/Video Overview、脑图、报告、数据表、卡片、测验、PPT、信息图。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FA0BDF-85CF-4DA4-BBEE-0B257EBC1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F064FB-9B19-40C2-8099-95EF6F81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E860D-B6F2-48C7-87B8-AD99D865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行内引用可跳到原文；Source 可勾选；Studio 把“同一批来源的多种转化”从 Chat 中独立出来。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62E9CE-945D-42D1-9E14-5CE4A3AE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B1645-0E53-47B3-97B3-D2EB4D9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F21C04-D958-4293-B042-4228279A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 彼此隔离，不能跨库回答；音频是导入后转写，不是长期实时录音工作台；移动端能力不齐。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50264-19D4-4F9F-BAA6-762D973F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9750445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7D56C7-CB70-4082-B623-4F30F4B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30A65-CA5E-46DE-9D4E-E80E4BC39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AI PROJECT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06E88-3E84-4355-B7F5-DD038900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ChatGPT Projects：长期上下文与通用执行最强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4FD23-0C06-4433-B46F-7499D744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把聊天、文件、指令、记忆、应用来源和工具放进一个长期项目。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6F39B-E5E5-48CE-8C09-EA8DC433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91F7B-8CE1-4401-A037-F1F14B07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6B45E-1EFA-4898-8039-EAF654CA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04BB8-DD0E-48BF-81DF-A5ADEF13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1E5BF-329A-49AC-BD2E-D5C6C841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Project = Chats + Sources + Memory + Tools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B066DA-9FB2-47CB-A812-33089459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0548D-D8BA-4033-8A16-C4399ABB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D368C-C810-49B8-9C00-13C5809DA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文件、图片、Drive/Slack、连接应用、网页与公开搜索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DDE44-B3A3-4339-8DBC-89368434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C51E4-7389-4186-8546-6F045B51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775583-CEDA-482F-A78D-3E68BDC5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Search/Deep Research → 有来源报告 → Canvas、图像、语音、文档与多轮任务。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284F4-1968-4E9E-9916-C0AAFE7C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18263-A140-413F-867D-C83F7ED78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31E84-33B1-491E-8337-D99CD7DC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项目记忆隔离、分支和共享成熟；Deep Research 可先审计划、运行中调整，并导出 MD/Word/PDF。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DBC58-C350-43F5-AF2F-8C45A006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171AAD-F62A-4B85-BB96-C7967737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B16368-7780-4AD4-A9C2-24AFD82C0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更像通用工作空间，不是精细资料目录；普通项目文件问答未统一承诺页码/段落级可跳转引用。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5A2F0E-4F09-40AA-9307-0857C9D6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541121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70FB04-0B6F-4D5B-9EF3-C203430F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E0C05-5CE8-4CD6-AC0F-730A159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AI PROJECT WORKSPACE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37B21F-C9F3-486B-BC83-A2DD3A25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Claude Projects：把项目知识直接做成“可用成品”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0CE05-CAA3-48B3-BBF6-867D848A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项目知识库、指令与多个聊天共享背景；接近上限时以 RAG 扩容。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24CBB-1C11-4FEE-AE98-F20923461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37372-19A6-4531-9BFF-C497DF97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847EC-C53B-483C-A96A-AC998CDE0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8AE0BC-81C0-4DE0-A1B2-D2F90497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56171-2AF0-424A-8351-6F423D5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Project Knowledge + Chats +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034907-191F-4504-9D04-7C6647DF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3130B-197A-47DD-89EF-38171C65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3FB7CE-8CF0-4CF3-BAB9-44234E04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文档、代码、图片、表格；网页与 Research 作为补充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CA6552-0FA2-40D8-A25C-F5CB5EB1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B6734A-7C2D-43B7-A811-444A6321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11139-98C4-4BA4-A668-CED747CF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项目问答 → Artifacts → 网页/应用、图表、Word、PDF、PPT、Excel 和研究报告。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208DC4-3BA6-405F-BD4F-4F7D99B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70850D-6413-4CF3-9C56-CE478D6C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3024FB-4B67-4074-8A69-4D402AD3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复杂推理与成品生成很强；Artifact 是独立预览/迭代区；项目知识可通过 RAG 扩展。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054BE-DE3B-42DC-B314-A14ECECB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02A8C-CC06-4A4B-BDB6-1C5167F08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654642-7EE5-4A44-B506-7D9AE905E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当前不是音频/视频知识工具；跨聊天内容必须显式加入 Project Knowledge；文件引用体验弱于 NotebookLM。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6F764E-991B-4DBA-BA92-54FA1CF8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1485932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3BF033-6E1B-4F86-843D-B1A452BF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2B2BB-B2B5-4CA2-A8C2-3B52E3C7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WEB-FIRST RESEARCH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C5EE4-E569-4B51-8B0E-7FA00CDB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Perplexity Projects：搜索—研究—交付物闭环最强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C3967-AEB5-41F5-A187-A6C4BA20D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原 Spaces；从一次性 Answer Engine 进化为带 Brain、连接器、任务和资产的持久 Project。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32AD65-20DD-4798-B3EE-5B794D6F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95D32-C612-46B7-A8B7-6D02236A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5A67A-AD0A-4E2F-A750-F697EA08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E1F57-A278-4734-8F29-E735FEDD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D66C7-D764-437C-82C5-9529A27B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Project = Search + Files + Brain + Tasks +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8F4E3-2F2B-4FC2-8822-E5B33AA19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8BE07B-2BE6-4401-B8F0-EB7E9828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830ED-8BDA-453D-814D-15DB3524D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Web、链接、文件夹、连接器、音视频、Slack/Teams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BABE38-4F19-4813-A037-56A8CB7B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3EA808-B81B-46C3-A0CF-9C42D37B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EEADF7-55D4-46ED-9135-B16BD9BA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实时网页引用 → Research 报告 → Page、DOCX/PDF/XLSX/PPTX/HTML，支持版本与导出。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BB62E-EC16-4809-8968-8804C8AF6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30D40-3A43-4E18-8B18-456FF984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FFECCC-58B3-45C1-BAB4-30490189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Web-first 引用天然强；Session 可转 Project；研究、Agent 任务与最终交付物已连成闭环。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5B0B87-46D1-4644-AE93-F1731325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CD1994-6B89-44FB-A5A2-B077FA5F5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37FBCD-4A17-411D-AA35-84036C69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长文件只提取重点；视频不索引画面；Brain 是动态记忆，不等于用户审核的结构化知识事实库。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F8EE1-C29E-44FD-A328-7BF14F2B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67987373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8854CD-1D96-4CBA-8D7E-ED917B9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6A8F6-FF8C-4566-81F3-3A0A1FFF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FAMILY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7DF40-CB1D-4FC6-8428-9A2261B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20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AI 知识助手：真正的分水岭是“来源可信度”与“输出工作台”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14D7C-AFDF-4F41-BB28-5EAFC577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● 原生核心  ·  ◐ 有但非核心/需配置  ·  ○ 非核心或官方未明确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1B8A4-F14F-439C-B473-33A38A30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C975CC-104F-4D2D-B99C-E656F196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9837F-B700-4D33-AE54-7A85779F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39C7E-8D7B-4858-AC6D-9B4D67CD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2885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F331C-5944-4E80-8C4D-99F3A8E8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22885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iMA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E35AF-1A66-4FEE-92BE-1CA1B37E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22885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NotebookLM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96B7A-E9D8-49E3-A233-24CF440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22885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ChatGPT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717DB4-C6D6-4419-8F98-596F69B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222885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Claude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75E4D-04A2-4CB8-82E9-25B2ED66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222885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Perplexity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0934EB-DA70-4B46-8A1E-F234BD2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4517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A26EE2-33C3-44F8-A332-7EF73954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8757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F3659-6456-443C-A845-A96DE003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多源输入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A1181-5610-4B49-BC9E-7D6B2B70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F79CCF-14BF-4EED-86C6-ADF50B003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743200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0096F1-54BF-4DDB-930E-B8E65CDE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743200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9FBF00-8EFD-43CC-B042-7EE51914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2743200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C2CDFA-9675-49F4-8B4B-4AD54558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2743200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349E63-A1FF-4099-AFE4-A50AE043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051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A9D30C-AEB6-4EF9-8542-AD52ACD0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4957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Web 研究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EF9AEF-EBE5-46D7-956B-B2F5FF59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94957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003AA-543C-432B-B3AE-9C9EAFD2C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194957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07C83D-C3B2-49BC-B037-3FAC2A8D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194957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94606C-E996-45FA-9DD5-A715CF79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3194957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D4AB7F-7C0C-4961-BFD0-3EB5F69E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3194957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8EE350-9DE5-424B-9867-EC3F60DB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0514"/>
            <a:ext cx="10820400" cy="4517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9CAB64-806B-4BB7-8E22-9A359896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227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969FE-5205-41BE-9743-3A97405D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6714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原文级引用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7F4D82-EA09-4542-A80F-90B0113D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46714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E5428-47C5-48B0-BF86-0293CD3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646714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C40D37-3A7F-44D4-A0BC-019605E7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646714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A0DC73-524D-45BA-A515-6AC5F939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3646714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601204-3B18-48BC-95D0-CC494D4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3646714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E29A7F6-1DB5-444C-9930-4DA60C9F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402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9CFE0F-10E8-42B3-9B96-5B32232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8471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实时录音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A9F7ED-79AB-44F1-97C4-20564D31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98471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B164EC-73AA-44D6-A3C8-5197CC09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4098471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03E5B5-65EC-4AA3-B3EE-23C4A727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4098471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57F6D60-B136-418F-850F-B9F320F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4098471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0DC78F-172F-4D5F-A6E4-6C6932DE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4098471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D9C909-A689-4375-B85D-74DE99AB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4029"/>
            <a:ext cx="10820400" cy="4517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26C6B8-008C-4A23-BAD3-2FF0A0D6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578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BA3ADF-DAC0-48BD-86DD-411AC40B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0229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长期项目上下文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57513B2-E036-4FC4-97BC-BE5E52D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550229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2E4B56C-858C-4B25-8552-8ADBE130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4550229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D063B2-4838-4109-AF79-C6A41B2F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4550229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5FD4D9-A2B1-47D8-B6B8-28A97DA4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4550229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8403BE-3448-48FA-BA18-EF7D7C845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4550229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943A2C-C054-4801-A7A3-C281AF61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7543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71A4147-0FE6-43B9-8BCE-32EABDA8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01986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结构化知识对象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26A12A-747C-4ABD-8BB3-222BAC04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01986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7791027-3E1A-4532-A0E1-E4AC8CC8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001986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AF1ECD-CD0E-463E-A40E-894F43ED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5001986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586B57E-9DBF-4CF5-8CAC-D8CBC660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5001986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3EDD34F-1D11-4216-AE02-3D87E26D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5001986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7D02B3-D989-4EA8-A57C-572C3D12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7543"/>
            <a:ext cx="10820400" cy="4517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2646625-3170-46A6-BDA8-721BDBD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380583-001E-4223-9113-7AE5FAEF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53743"/>
            <a:ext cx="215265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多种成品输出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68E1EB-81F8-4BA6-AF45-4A26FD02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453743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8336E7-F16F-4855-9A8E-E1F7FC4C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453743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55C1113-5353-4F7D-8FD2-BB553F6E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5453743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68F074-E142-4EEF-9AFB-4E72C632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5453743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DDE8C9E-3C3C-462E-BF0F-6CEED65E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5453743"/>
            <a:ext cx="1459230" cy="3374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A1730E4-985D-4828-BD0D-34F718C9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677531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114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D1DB11-A75C-4EA7-972C-4C4628D42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30BFF-D3DC-43B8-9AD5-28B7EABA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B31D6-8B0A-4C47-8187-F4617345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8439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结构化 PKM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E362E-5A91-4C18-8A47-4EBE6ADE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843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42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3ABD7-46FB-45A8-B927-D62D304F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8439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共同承诺：不只是一次问答，而是让知识长期积累、连接、演化。</a:t>
            </a:r>
          </a:p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核心差异：自由度、类型化、来源血缘、离线所有权与配置成本。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3A75A-EF46-4FF2-A954-9B757BE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7683405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BCC864-405E-4EC2-B09F-65FA83C8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70DAC-8CEA-472F-BB0E-1B4C59EF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STRUCTURED PKM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BA6890-4A75-45F6-9A61-DA2B3E19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Notion AI：团队搜索、权限与引用问答最成熟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F1EA0-5974-4EF7-BA58-883ED183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Page / Block / Database 仍是底座，AI 把 Workspace、连接器和 Web 统一成企业搜索。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AB6380-5CAA-42C6-9FF4-32437662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1BD50-9F5E-40BA-854D-FC8A58C1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0850FF-D6CB-4725-88FC-AB9A23DA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C903F-FEA6-4827-8FCB-7F9C5716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BDED8-086B-4A20-8F91-088985CB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Page + Database + AI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A73F00-8914-4FE1-892D-A0669520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6C547-440A-4A14-A477-F3E33522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765FE-5E5E-4BD3-B32F-2CD293D9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页面、数据库、文件、连接应用、网页与会议音频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631A9-F579-407E-98BE-9AA20805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B50070-2E20-4618-AA90-9869C025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F06A88-9E0B-4889-A9F9-686A00C9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跨源搜索与 Research 报告；AI Meeting Notes 生成转写、总结，并可跳回对应 transcript。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C75D0F-4F3F-48F4-A0EF-DE304E59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DCCEB-0883-40FC-AB7F-7D27FCD6C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05AAC6-1468-4C92-A15C-D56D92A6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团队协作和权限最成熟；可限定 Source Scope；Workspace/Connector 问答提供来源引用。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7A56BC-F2EB-4D3D-86C2-0FAD9878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D60EB2-49D5-442E-AA08-37EDE7BB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ACDBD-FE1D-411B-AEBB-11EE6B7A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来源、用户笔记和 AI 结论常都只是 Page；本地所有权弱；自由度容易让用户先搭系统、再工作。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D3CE2-6D94-4E37-B5A8-1867FA62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5766300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1CCB6-17FD-4277-90E5-A14E7A12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A47BE-729A-4DAF-93F1-3B02A0A8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LOCAL-FIRST PKM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841EF-7670-438B-8C9C-35D58BB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Obsidian：本地所有权、开放格式与长期可持续性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78B7F-CF9F-46D5-9203-991AF52E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Markdown 文件、链接、Properties、Graph 与 Canvas 组成高度可组合的本地知识底座。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E4302-BA2B-4A02-A0C1-C6D21A9F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E9D85-D0E4-4345-A2FA-C27D63CC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504BDA-4C62-44F7-BD54-35205749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FF3D6-C274-46F3-A8C3-CA812E20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6AE97-BE1B-4C62-AB74-14B3622F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Local Markdown + Links + Plugins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A9D604-3BD8-46E2-8C52-5D165628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F27AEF-CC16-4B84-B352-32CF87C0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496A76-9338-4661-99AD-BC44978A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本地文件、Web Clipper、模板化元数据；更多采集与 AI 依靠插件/外部工具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E1CD2-1DF1-45B2-ABC1-48D72944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180769-4876-4142-A00A-B920C0F0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E35EA-9730-49E3-96CA-85DA63FE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链接网络、Canvas、Publish、开放 Markdown；工作流高度可定制。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8F557A-2581-49BD-A563-4978968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1B273-7065-4CA0-8B45-1CC57D25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2AAAD9-D3CF-4D58-BF75-EF3CC511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默认私有本地；开放文件格式；核心离线可用；Sync 支持端到端加密与版本历史。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76482-C66D-4FCC-BB2A-14D1911B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B1908-B631-4F51-86BC-31ABACF5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641485-01B8-4953-BB0C-9E91597F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没有统一的一等 AI 证据问答和录音工作台；普通用户常要安装插件、定义约定、自己拼装流程。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B39C9-4758-466B-A22A-C5E0CEA4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2849104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CC93A8-A61F-4C48-9B0F-C52138D6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DDE25-ABFB-4DFD-8769-1A7598FC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STRUCTURED PKM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02E4D-1E40-48A5-AFA5-0E0E179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Tana：最接近“自然捕获 → AI 处理 → 结构化对象”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AA9DC-52B8-4E7A-8EB4-DCFD1E10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任何 Node 都可用 Supertag 变成 Person、Meeting、Project、Book、Task 等类型对象。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39DC91-1DE9-4FF1-A345-F70B013C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CF467-1706-4AA3-9A48-B099063D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54B18-C619-455B-888A-9FCCC81B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EE43ED-F80E-4509-90FA-3EAF7737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7B0B8-5E85-4704-9C61-8D6E723A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Node + Supertag + Field + AI Command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917F8-A135-4F05-8B94-0B0AFAB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CCCFE-E39A-4DCF-943C-14FD62F1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68464-DC03-4257-866B-520405D1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自然输入、Daily Notes、实时会议录音、移动 Voice Memo、节点与附件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8E271C-AF66-4376-BCD2-5948E547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30BB2-0299-4C6E-9918-8C1A7840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6EDBBF-08A3-411D-8AF6-0F00C68D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转写与人工笔记 → AI 提取任务/人物/主题 → 自动填字段、运行多步 Agent。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4817C7-5BB7-4943-BB23-CA05A845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0CA5F0-4432-499D-BAD2-56B2B3C3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28B6C-B392-4D3E-B7F0-6AF0BE5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录音、结构化和后处理在同一条链；后台实时转写与悬浮控制；原始 Source 可与用户笔记分开。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B092E-0149-4952-8C34-0710C20B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1FC52-12E8-4DD2-9249-2497D55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474BD3-9638-4AC9-9848-88692B39E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Supertag、Schema 和 Command 学习成本高；全图自动检索不如 Notion；过早要求配置会阻碍一键录音。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1A8F1-B9B6-4C83-983C-01B6835C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993311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5103AA-5CD9-49AF-B93C-E8C04411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161E4-C96A-487B-A7C7-1A2FEF8C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OBJECT-BASED PKM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01CC47-A5A9-48E8-8002-0011350E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Capacities：最清晰的对象型个人知识模型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749B1-4939-4053-AB12-10F953C2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Page、Weblink、PDF、Audio、Image、AI Chat 都是可复用对象，也能定义 Person、Book、Meeting。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EF696E-2AF9-4F5D-A1D9-02A7BBF2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1D0EC-CA03-4A09-9363-1CAECC09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F877C-6063-47AC-B38C-89C13DA8E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3032FA-65CA-4E53-A550-C16197D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D7231D-FE66-405B-8A1F-DD4C7134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Typed Object + Property + Link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8C114-D9FD-46DD-816F-7D6702BA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0719D-7FB1-4B73-881C-F8D19E9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C9120D-AF8E-403D-B48E-23F46B57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Daily Note、快速捕获、分享菜单、PDF/Audio/Weblink、AI 连接器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5E0BC-A664-4ADF-882B-23D3499F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AFCD9-EAA1-4C6C-96EA-2C087A0C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A7BE83-7F84-49C5-A056-36815C95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对象化笔记、属性关系、Backlink、Query、AI 搜索/读写；写操作需要用户确认。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CB8E9C-D6A4-443E-8268-56E48A9E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AD6360-7BED-47BF-B581-0A7DCB4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9EEC36-F32D-4D93-A8B9-59D64DA2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结构清晰而不必先建数据库；Source/Media 天然成为一级对象；offline-first；AI 写入有确认机制。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EB785-2952-4BF1-BE6E-4953ADB7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FAB089-8465-4A58-826E-A4C6516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26254-74AA-4ED4-9491-4E2349B9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暂无团队协作；缺少强视觉研究工作区；结论与精确页码/时间段的持久证据关系仍不统一。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D5DD73-6E16-4ABA-96DF-FE6F31E70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200905663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3263B-F9DD-4096-B2A8-EA36D5F7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107CE-6B92-4316-B33D-B17B806C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VISUAL RESEARCH PKM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53BE8-50E7-42B2-BCA2-E43D7960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Heptabase：最强的“来源—笔记—理解”视觉工作台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742644-8368-4130-A039-ACEBB067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Source Card、Note Card、Highlight 与 Whiteboard 一起保留材料和用户的空间组织语义。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BB514-D579-44F4-97E3-C970C3DF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49769-5D35-482B-BD38-13F52C7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F53B2-C57A-4114-B1BA-012F7F832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20BA1-D1EA-4A4B-85E3-0698B5DC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C8241-1CA0-4693-92B1-4B91E97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Card + Whiteboard + Source + Highlight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4F23EF-C312-4643-960E-77BDF753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1E9C7-E106-44CC-A0B3-36C1A39E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75107-3502-44B4-861C-6B50CB33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PDF、音视频、网页、Readwise 高亮、Journal 与用户卡片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FA9C3-45F9-4052-8A12-BA54FBE8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CFCAA-8C32-48F7-B495-E3C7A2DB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A6687-7A54-4B0E-BCAC-FA125EA0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媒体转写、来源高亮、主题白板、混合搜索与 AI 结果卡；同一卡片可复用到多个白板。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E077A9-F7C4-4D61-9DC7-215A54CB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26C4B-3BAC-4941-8A82-627FA81B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3FCEA6-0A7B-42F0-A02C-B03472D7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复杂研究和跨来源理解很强；AI 能读取白板分组与空间关系；本地完整数据、离线与 Markdown 导出。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4B97E2-8DCD-4121-AE90-C8952788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6B3DF2-48C9-4855-848E-55407F8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ED6C7F-9946-477A-91E4-F4B18141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大白板易混乱；结构化对象规模化管理不如 Tana/Notion；Claim-to-evidence 仍不是正式数据模型。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31D1C6-1785-47DB-BFF8-690A429D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34817747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C86DE2-05A0-4B26-A9B3-AFD0574B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BCFB1-356D-4B81-A682-A95F0660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READING &amp;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3BE5E-7522-4BA1-B84D-30AE60E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Reader 把内容收进来；RemNote 把内容真正学会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FB7AC3-5C73-4C86-97DD-8C71D69C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两个产品分别补上 Source Inbox 与主动复习，是知识生命周期的前端和后端。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19A77-81F3-4BC1-ABD4-ADB4410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20CCD-8817-4C6C-93A7-EAA1EB35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B060C1-1FFD-4803-B830-812BF88D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21970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7C553-66AD-47F9-854D-EFFEBB59F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521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C9C73-64AA-4706-9BDC-D6883183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Readwise Reader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9FD4BC-525C-4B98-B8EB-3FAEFA4F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33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Document · Highlight · Note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E8DA1-FA7C-4E97-8742-33009963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AB579-A70E-401E-ADB5-CE6E7803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71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网页、Newsletter、RSS、EPUB、PDF、视频、播客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AE08D-6DAA-4909-A1C4-7884439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76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强项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A6F1D-390B-4957-BFCE-E283C2C6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386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保留原 URL、作者和阅读进度；高亮可回到上下文；Ghostreader 偏当前文档；可导出至 Obsidian/Notion。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912E8-24F8-431C-9094-5DB34FFF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缺口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C37E13-46BD-4F0B-9A21-42B53FBC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339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缺少 Claim、Person、Concept 等强类型知识对象；容易停留在“收藏很多”。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7BD75-91BC-457D-8A68-EF3BAF6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219700" cy="3695700"/>
          </a:xfrm>
          <a:prstGeom xmlns:a="http://schemas.openxmlformats.org/drawingml/2006/main" prst="roundRect">
            <a:avLst>
              <a:gd name="adj" fmla="val 4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721890-5DAB-4256-8B3D-6B527AC6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33600"/>
            <a:ext cx="52197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CDEA3F-6F5C-44B4-A922-C7F71CD4B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193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RemNote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8C48C-65CB-4123-BCA0-2DF76560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33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Rem · Reference · Portal · Flashcard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180651-4350-4B7A-9491-AF97F00D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输入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749779-EA36-4A01-A62F-E97F04D7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718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PDF、PPT、音频、YouTube、网页与 Lecture Recording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C3A8DD-6927-475B-B06B-69874BFF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7670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强项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7FF552-826D-46E5-B74F-D46516E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03860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Quote/Pin 回到原始文件；AI Tutor 跨知识库问答、出题、生成学习指南；间隔重复形成长期记忆。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D1F88C-FD8A-4167-809B-50A2C0BB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609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缺口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C8646C-7559-4E98-9B87-0F3603D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339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产品心智偏学习考试；概念多；跨来源研究与视觉综合弱于 Heptabase/Notion。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96F196-1FC1-4F6F-81B2-EAED72B1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476938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1FDC30-B941-416C-81E2-8D05352E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65267-2E97-48D9-910A-8CF58FC2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FAMILY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741C1-DFA8-408D-8174-31EF38B7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结构化 PKM：越能长期生长，越容易增加配置与维护成本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32D23-F741-41D2-8BF6-ABF597C9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● 原生核心  ·  ◐ 有但非核心/需配置  ·  ○ 非核心或官方未明确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CA4CF-D63A-4828-A0AF-48FD9C93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930FD-CE7B-43DD-BC03-35EFF23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74AC2-170C-479F-A25B-6D701FE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85294-DF5B-4AC6-B065-E62E6935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771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6DF94-82D5-440F-B1E3-AF76756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Notion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1796F-EE9F-4F65-9D27-B3611A32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Obsidian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CA544-AA7D-4CB0-AB45-BDBA0E688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Tana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D233A9-5C88-46D4-9DFC-AB055309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Capacities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1D050-9E41-41E3-B088-2FA9F616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Heptabase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34C5C-68FB-4348-88A4-E580158C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Reader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690CFA-B524-4F64-8074-B533C84C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2209800"/>
            <a:ext cx="10314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RemNote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8EC16B-209B-4CB7-91E3-A58B6271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10820400" cy="459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B38AA3-A2C0-44BE-A80D-4B84A71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787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F4062-DEC6-41EC-8417-221A4D4D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强类型结构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A4AE4-BCCD-4760-B520-7E3A3F47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FA849-32D4-41D3-A2D4-9201680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0BE912-3182-4DBD-8E47-A7583B2E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66F7B-E048-4EE0-BD76-4038A6EA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E8B106-1D7C-45EB-BC98-E6D8822F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C09A72-F751-4FE9-8FCA-E336BCEC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6224A7-1235-44E1-8333-37CDA3DD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2724150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E7B4A-4869-43C6-8AA5-EDCBF850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7793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C50418-0BFF-4B89-AAAE-19721B6E3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4071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精确来源引用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B8A31E-7BC7-4961-90D2-D7ED9FE8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D0AD25-5EB0-483A-B110-75F3399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7D5CC7-5201-4F11-8940-5FF67C5A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08EC61-895D-4967-8B3E-9F31D44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353FE8-EE00-44C9-A7FB-1849247B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6069CF-CCFD-471E-9AFA-6433A95A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6AAB06-BCB0-481D-AAF9-620CE9E8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3184071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50B54BB-B4CE-47E3-AA1F-78641B6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7793"/>
            <a:ext cx="10820400" cy="459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2B6E025-B51E-4F78-A4DC-9C94224F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771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2A27B68-C338-45AF-821E-11BC2C15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43993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实时录音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113BB-7D77-4A43-B2C7-C19E5483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62BD38-D838-4F84-BF64-4CF19ECD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9835F6-D450-417D-A534-D40F2375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571C9C-17D7-45F7-A93E-FADE3296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D26454-E5DC-4D65-9B5F-639F479C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E2BE521-7780-4EEF-B782-9B2B5E7B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1328185-4F7D-4075-8DCF-CF368A0C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3643993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251D0D-5A30-4D0D-A016-CFBD96445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763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5E878D2-4512-4468-A054-2F21B84F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03914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视觉化理解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127AB4-8B2F-4FC5-9AB8-6D2A6FDD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1C4D50-D725-4D95-8F22-65EC6533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972343-5E3C-4F3F-A995-7AE248A2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96A833-39D7-4ECB-A5FF-A1A12B4B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6CE19C9-3F21-4AA7-A166-48104323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90B547A-1788-418B-8B36-8B9E00A2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0E8DAF-3BEE-4A39-AC11-9DB54F1E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4103914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A6528E-FA72-4DA9-ACA4-E3365A29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7636"/>
            <a:ext cx="10820400" cy="459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5FB82C-8C44-40E7-BB3F-A64DCA7E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7557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A6A3CE-571D-4066-B7D8-D73CB3A2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3836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团队协作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BE2917-C806-4C97-A53F-30679DF9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0937A7-2434-4533-824B-CB50D3F1F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8405510-B235-47E2-845C-9569AC16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46BC5D-C6A3-46C6-8634-131C7F3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FB5211-C6FA-4F80-AC68-9608CCE9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0AD6E3-FE4D-491D-B5FD-3FD98B1A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F896F8-F575-406B-B474-47ECC76C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4563836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BDC89A8-D2C8-4994-B688-1898DB84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747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C0A254-4937-47E4-B1B2-E9962B30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3757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本地 / 离线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64E69C5-ADB5-4B45-BEAC-451EA90E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BFD5B0-D289-4676-A11A-7D7367E1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0E5B93-C645-4185-B6EC-F984DF71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FDBFF5-0C89-4DEE-B9E9-0AE10B7E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30258D5-8EF8-418C-8A73-76C323B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6A67660-5676-4D93-B295-97EB1933B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D8C647-E041-4C78-88D0-E3ED317C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5023757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DCDCD63-AC27-4F29-B246-2CFF189D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07479"/>
            <a:ext cx="10820400" cy="45992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B6BA3D8-238A-4129-924F-062F4838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6A9213A-BF3C-4D69-A3D0-2713989C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3679"/>
            <a:ext cx="1771650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学习复习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3F0B4BE-955D-44CF-8BF7-7440A60F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9D69F44-404D-4B14-94D7-AF7B7895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71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F38FF80-5052-419C-B36F-BE9E8E50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393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045ECF-B39E-488F-A9E2-E65B4AB1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414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B7DCA97-9259-4A3D-88B0-A680518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436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156666-2F47-4D80-93AC-455A0700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0457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400461-B7B9-473C-B06C-E6C9838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0479" y="5483679"/>
            <a:ext cx="1031421" cy="3456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5177644-CE74-4861-9769-D69AF1F0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8854926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4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6C4EA-FDA2-4654-9865-562EE7E3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7B430-751B-44F5-B54F-6CB96AA18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660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7E6CE-BDD7-4EB9-A426-203B4BFD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562100"/>
            <a:ext cx="8439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录音智能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8CE26-C293-41F3-8BE9-9A92BF64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24150"/>
            <a:ext cx="843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424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7BFAD-5F2A-42E0-99B0-C3FF869F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84391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共同承诺：让用户专注于谈话或课程，而不是手工记录。</a:t>
            </a:r>
          </a:p>
          <a:p xmlns:a="http://schemas.openxmlformats.org/drawingml/2006/main">
            <a:pPr algn="l">
              <a:def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C9CFD9"/>
                </a:solidFill>
                <a:latin typeface="PingFang SC"/>
                <a:ea typeface="PingFang SC"/>
                <a:cs typeface="PingFang SC"/>
              </a:rPr>
              <a:t>核心差异：实时性、任务窗口、原始音频保留、长时稳定性、跨录音查询与后续知识沉淀。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BD844C-7C94-4863-965F-FDF514D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5402088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3AB19D-4671-4D81-A9C9-79182D4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2F5E4-2ABB-43D6-831F-C52FB743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RECORDING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D50452-5970-4814-A283-30E0B447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腾讯会议录音笔：把录音变成“可回看的会议资产”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399FB-C7B1-488F-8F13-05D64673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桌面主界面“录制 → 录音”直接进入独立录音页，结束后成为稳定的录音文件。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E77F80-7881-46E3-ADF4-7B361FBB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20FA5-9E2D-4B2D-BC33-BED57544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1A8073-4055-4B61-935F-F65920E6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5DA56-2F57-441F-8AD6-6E84E432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595D07-E2C0-4581-B586-107CFF00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Recording File + Transcript + Timeline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AFEFBC-433D-494D-8F37-0BC75703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EE525-5917-4B22-84A6-B6734DAF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D310F2-9051-47B0-A6B1-5FAA932E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实时麦克风/系统声音；本地音视频上传最高 8 小时、4GB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488B1-BC5F-4C81-96F3-A9C80173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9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E2F5B-82FA-432F-9D49-857C240C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2CE83-78B3-4D1F-BFB1-7D2607C0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实时转写 → 逐字稿、发言人、章节/时间轴、纪要、待办、翻译、关键词与 AI 小助手。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5679FB-DD3E-4BE3-AFA1-0CC8BAAA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2D0C03-B8E3-4CB7-AB57-D81D33AE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F6518-FFD6-40A6-984D-010030B0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中文长录音适配强；每个结果能回到时间位置；原生录音与上传文件进入统一处理链。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68B40-DC2E-428F-A794-0FF0A828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29F2C-4FC0-4404-9540-60119176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3A6CE1-9ECA-4635-8B33-725CC86F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仍偏“录制文件中心”；跨多份录音与论文/网页的知识综合不突出；录音笔与部分会议操作互斥。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CE10D9-BD71-42C2-AD3E-E7464260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5613010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639CC9-3CDF-4720-8761-60AC389F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44BC75-EF11-44AD-A0F4-BF144651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PERSONAL RECORDING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D9967-23F0-4F97-84B4-2F6FABF4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Plaud：把每次录音变成“个人长期记忆文件”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57194D-C13A-4577-976E-03B52A0C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录音文件是一等、永久对象；重点、照片、笔记、转写、摘要与问答都属于同一时间上下文。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5FC48-F3E7-419F-8F35-9DB488EA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11DE0-6823-4491-BA88-1BDE6F4A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78CC-1EF3-4331-886F-E55F2570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3FB73-A915-4A2C-8C71-073562E6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3DABAB-12DE-45A5-BAD7-ADF9FBBE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Recording File + Moments +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8DEC2-FCA6-4492-A74F-5DBEE4B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B845D5-977B-452C-975C-2E09CE75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27ACF-3A26-435D-B95B-185A225ED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硬件/桌面录制、音频导入；录制中可标记重点、文字、照片/截图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0A53D-45BF-4AEB-8FAB-39EC7C7B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9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091AB6-F9B8-4F50-BAB3-CD09A661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FA8F0-AA2E-4E41-892A-78B16355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带时间戳/说话人的转写 → 多摘要、Mind Map、Ask Plaud；答案可保存为 Note。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B14A48-6245-4D31-88E4-0419DADE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50C6FF-CCE2-4F59-9445-3883A980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A3169-D342-41E8-A849-54B5EBDF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单文件与全库问答都能引用来源录音和时间戳；一份录音可生成多个角度的产物。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83D9D-EFCE-4E45-A0B3-1E49BE8E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DCD525-A7AB-45A6-AB80-A0EAFAF7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B85A1F-5963-4F97-A176-D7F83A1B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官方明确不支持实时转写；AI 处理依赖云端；Desktop 还要求安装并绑定 Plaud 设备。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9B7909-8F59-4582-9FAA-36B831B4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60785343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18E7CF-2DCA-4E1E-8CA4-2E3E8BA2F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A2A71-5F6B-4EDA-A4E7-5D6B6B08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HUMAN + AI NOTE-TAKING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6CEF-A44C-42F2-A801-6E50A88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Granola：人机共同写作的会议笔记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E49EC-6E28-4539-AF4D-F976B9FF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用户只写少量判断与关键词，AI 用完整转写补足上下文和结构。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54DB7-93F4-4DC2-BF7E-09F1A54F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62FF60-88F1-4567-9B2E-865F2260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2AF97-4171-4205-A313-EC920E59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034A2-557B-44F9-BAD6-49BDF51E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D3968-9BAD-41C5-A6CD-5012770C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Human Notes + Transcript + AI Enhancement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3D503-9B17-48BB-A129-405D0231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1D5FE-E15C-446B-AE9C-DC050493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D493D-9506-46AB-B395-8DD45FE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日历会议、麦克风与系统声音；录制中实时写自己的 Notepad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9D48AF-6653-448A-A185-75A01F4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9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8E6E29-E2DA-4EC2-808D-FBC74562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75F9D7-39A4-4DEB-9E8B-9C8A162C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人工草稿 + 完整转写 + AI 增强笔记 + 模板总结；每条 AI 内容可查看其转写依据。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9E836-B516-4E5C-8E9F-CD58F88C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1BF953-1C00-470F-8C77-5855E8D2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A1FE60-6C48-46E2-B58E-5024A123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无机器人、安静启动；人工内容和 AI 内容有清晰分工；单场、文件夹、全历史共享同一 Chat 心智。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04D777-C444-41E1-A7B6-070DEFC6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508B51-B525-4803-9AFE-3A314EC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ECC2E-38AB-4405-8387-F1099B77B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不保存原始音频；不支持导入已有录音；实时多人识别弱；更像会议笔记，不是多源知识系统。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9CBF7D-8A1E-422E-8ACD-25694A4D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60849491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9BF045-254E-497D-AD10-AC64381C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AF8BE-1F30-4271-B7F9-D5CE0A707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CONVERSATIONAL KNOWLEDGE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0E8FB-993F-4B4F-992C-C0F83B60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Otter：实时可查、可协作的 Conversation 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50422-39C7-474C-8FDA-9BCBD897A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机器人入会与无机器人 Desktop 录制并存；离开主窗口后仍有可拖动悬浮控制条。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88CF7D-1A2C-4DA2-B891-806332E0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E82C0E-F9F2-47A8-9923-F5B31647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6FD60-3E0B-4C00-BAB8-748A2BEE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A9018-4E7F-46A0-99A7-4AC8F3D6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2D5E5-F1D0-4682-8F46-8885CFBA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Conversation + Live Transcript + AI 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20013-739C-488D-BA5E-26E456B1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A7D5BE-DB5E-464F-85CD-D977C04E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C18505-DE28-4127-9A14-51061E52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日历会议、桌面直录、音视频导入、主流会议平台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06803-7E36-4CA0-9406-76A151FC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9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6460F-5EC5-4055-AB42-24A28743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1AD656-A004-45BF-B24F-0B94F1B79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实时逐字稿/章节/Chat → 音频、摘要、Action Items、Outline、评论、重点与跨会话 Chat。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F6F65-CCBF-4CEE-9407-333DD6F4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046E4C-053C-4F6E-B2E9-DA816840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1A3231-BDF1-4B64-8EB3-D4016421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Conversation 是完整协作对象；上下文选择明确；悬浮控制器解决离开录音页后的可见性与恢复。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9B9C5-1748-4E87-9ED9-E7AC3D04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111EF7-8567-4A11-B3FE-15F6418B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E5B0BA-0D16-48DF-877E-CF765868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4 小时依赖 Business/Enterprise；简体中文仍为 beta；完全云端；整体心智偏团队会议。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4C3E91-1222-44DC-B8E2-FC6E502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0553588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AC992-6107-4B83-87C4-FEEB480C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213EF-7333-4401-82CA-4E38ABA8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MEETING WORKBENCH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A73B2-6E5F-4163-A5B4-771361F4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5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Fireflies：独立工作台、悬浮窗与最大化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CC248-2C81-43C7-8F3F-02DC44E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多个入口都打开同一个 Live Assist 任务；最小化只是改变呈现，不会结束录音。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24884-80CE-46D6-A6E9-C2F8908F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798281-E63F-45E5-B390-E6C5897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1612C-7E46-48A7-873E-BCB5425C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0" cy="363855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64F2E-7B31-427C-8FFC-DC5AAA25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9555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核心知识模型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59DD72-BC23-42D6-A82C-60AF7D68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781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Live Assist → Notepad → Global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9C36E-BDD4-4DB7-B5A4-FE674AB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781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FE4BD-8BEC-454C-8DB7-F52B551F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781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主要输入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B29116-8854-4B87-A5BC-AE0B2273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27813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机器人/无机器人、桌面/移动录制、扩展、音视频上传、会议集成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EC9582-5F9A-4AA6-9788-96FEF795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90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D99CA-BB37-4032-B6F4-635C8592A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384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它把什么变成什么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B9F26-DF3A-4E5F-83E4-841FBD1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实时转写/摘要/Action Items/AskFred → Notepad 的录音、逐字稿、Tasks、Analytics、Soundbites。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2EBB14-7BF3-486E-B91F-BC5F89E1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8DC797-FFFA-49BE-9981-E586D245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最强之处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DEAC9-982D-4408-A97E-5BBEED18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0045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悬浮窗可折叠、恢复、拖动、最大化、暂停；结束后同一对象切换为 Review；Global Ask 跨会议与连接应用。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2E86C7-E8A0-40EC-B329-68286C4C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67250"/>
            <a:ext cx="721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58090-AB4A-4F97-BCDD-394D84DD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边界 / 缺口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BA70F-1C7E-4B4C-94FE-BE2EBD3B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00600"/>
            <a:ext cx="5410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功能重且偏销售/企业；上传最长 150 分钟，4 小时实时会议需 Enterprise；默认仍为云端处理。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449C59-D62C-4875-86A7-8B34E3E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7805571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C78870-598D-4F38-8F8C-AF68B0E1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A07C6-06A4-410E-8BD3-8A83C2A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FAMILY COMPARISON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45F387-9EF1-4BD1-8797-B2E3393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录音智能：入口与窗口状态，是功能之外的关键能力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074AC6-E448-4962-909F-72884D3C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● 原生核心  ·  ◐ 有但非核心/需配置  ·  ○ 非核心或官方未明确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D5110-0FA2-4528-B2D8-4863AED8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D51FD-6432-48E0-AEFA-39B57354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A20D9-B217-43EF-BDDF-BD1329A6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B145C-2A06-4D2E-9FB1-C59A729F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维度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B1413-8A0F-4ACF-866C-0465535B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7170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腾讯会议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EAC98-0F66-46BA-9773-5F0C2619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17170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Plaud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8E8B7-71A4-4938-948A-52DAE2D4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17170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Granola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FE66B9-F064-48D8-AC8A-43E1F70F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217170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61EB0-F656-46CA-86C2-E6F8CF38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2171700"/>
            <a:ext cx="14592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Fireflies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5EE0B-4B40-4575-B7A4-B52C9A44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8F702-A076-486E-A9AA-46348F32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133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B9E16-09EF-4541-BC8C-70E8068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独立录音任务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853C49-4493-4EA2-9EB9-2493AF3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9A9A8-3662-4DCC-A7E8-7554406FC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686050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0C0F34-4D12-478C-A51D-A8035AD3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2686050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E22730-FE79-4E52-A823-9A333DB2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2686050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EC8CF4-673C-41F2-A9BA-B7EDEE47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2686050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D1F25C-BB2E-41AF-8181-A42694CB9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7DEE6-8C23-4CAE-B6A7-3285BF85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7531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实时转写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D28A41-16A5-4D94-937C-8C82EDF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07531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20333E-FB02-4B09-88F4-F40F8ECE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107531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4C901-5F79-4FF1-853D-0344F8D3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107531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C88C4-4BF7-48CE-925D-6355D4C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3107531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92C14-3DFC-4BC3-ABC7-E171A573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3107531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74EE32-C2C4-4DBC-B03B-1D966D19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FC9AB1-A49B-4A93-8738-5335DE1E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429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0149A-48FA-4DAE-B6AC-76E2073A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9013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最小化 / 恢复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615998-B779-455B-909D-8BCDA2FB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29013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9DD13D-E862-46EF-BD9C-CB16E405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529013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547EC8-8515-4C3B-BA1A-281E4ECB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529013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E2F7E7-2766-48CA-8899-6B96E75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3529013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CCE6BFB-E72B-4ECC-AC81-FE03CC25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3529013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ADA7A6-5EE7-407B-BE71-B819AED0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ECE0F-2AB6-4DF4-BF26-D2CB90D8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0494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保留原始音频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67C7BF-68F5-4B5E-A304-DFEEB46F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50494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17C63-65E1-497A-B733-A7BFAE13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3950494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B2213C8-8124-4956-B3D2-9EE1CCD8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950494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1BD399C-A6BF-4E58-890B-B7D14D68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3950494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C0113AB-66EE-4262-B5D2-F8A0CC82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3950494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6542F-F499-4174-9B77-4A927E3B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8D23BC-E105-45A5-8357-D6F86B4C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725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42505C1-08CA-4C2C-A73A-E32F8382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原文时间戳引用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F6F8BA4-B82A-443A-86F2-38C71F84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71975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6235E-114F-4C49-8BCF-0142D470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4371975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C7A471-199B-467D-8A58-CA691DDDE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4371975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96A18F9-B5EB-4689-9E66-F241CDBC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4371975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ED213E-CF6F-42CD-B88B-09DB1588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4371975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053D79-DA12-4DAB-A6AA-59707F9F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39123A5-9CB1-4B06-8605-38CA9849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3456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跨录音问答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9D19DE-87F8-4F7B-B496-0F4FE541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93456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B7297A-4AF6-4524-9BFF-878B6B8D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4793456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799E26-313E-4943-8DBB-48D54733A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4793456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E85A95-50E7-4766-9F41-8927B58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4793456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2288045-765C-4A74-99E1-B0D717A7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4793456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AD80193-35F6-4E7F-BD80-45A0684B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938CAC7-D33C-4E3A-B99F-D8B9AC82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021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F264E4E-98E2-4CE5-A3CC-46938180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4938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4 小时长录音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61616DE-F074-422E-9D78-F0B5B610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214938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7BD843D-3134-43C7-84DC-AFF5AF6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214938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9D9CF22-9E12-40F9-A0C0-ECCCDF6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5214938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8558DB8-D4EF-4618-9B12-C6F71887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5214938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8D2C0A3-6AFD-426C-B492-DBB8A6BE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5214938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0ABF72-F157-4F2D-963D-1F2072B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F1351E-28CD-4D49-A888-0532B940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6419"/>
            <a:ext cx="21526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多源知识沉淀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79AE4C-A9AE-4E4E-90A3-594FAEB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636419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1B3362D-7132-499F-8CCE-28046093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5636419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34147E-1F21-4DD1-9FB6-A0BDD07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5636419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3F1836F-CA2B-4DD6-8094-B35219D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4840" y="5636419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9688DEA-12AC-40F9-97E2-0C76719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70" y="5636419"/>
            <a:ext cx="145923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C8F3966-9B84-443C-B42D-75A05BA0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13398621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2723B55-836B-4144-B3C5-CB4E72CA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CB5822-6BE1-4430-B723-FC0E971B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CROSS-CATEGORY MATRIX ·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CCF5C-7D5C-4469-9797-4072EEC3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跨品类能力矩阵：AI 助手与结构化 PKM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C7E46-BE6F-4F2A-863D-A8EA09E5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● 原生核心  ·  ◐ 可做但非核心/需配置  ·  ○ 非核心或官方未明确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4EDC7-FBA1-4825-A4F9-52746FF5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4191D-0A11-4A0F-8769-47F6CF62D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6B7B1-34BA-47F5-B49B-F0C5346E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2F3C7-9689-4729-8DE9-2319A2E0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8750F-98A4-4896-A0BF-82EDEA1E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多源输入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0463A-0F27-4DCA-829C-3EA09F53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Web研究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74DEBB-1C8F-4E85-8443-BAE3DFE0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精确引用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F5F0F-6C77-4E52-B8B9-704D3A6AA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实时录音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C13F14-A23B-4BA9-ABD7-C1EC3C9A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持久结构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DF37E-649B-40AD-90D6-AD54AF23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跨库复用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4415E-6BAE-4563-8299-833EAC2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丰富输出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69AA-AF74-4199-B6AE-DC76CD3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2E3E9-C2BD-4DC9-9053-27375B7F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133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5F7FB-CE91-4769-A3F5-691EED57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iMA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0A2B7-CA5C-4B48-A83D-C62DC7CD7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C934A-BA2C-4D5F-93D7-B27E716C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C4CE1A-AD59-4073-BC88-786238D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2DF8F-8F66-4374-93CC-37D5D7CF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82F08B-FDDA-4CDD-A65E-F5D05AAA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FCD03-0F64-4E2F-AF41-3156D556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CD582B-B1F4-4B76-89DC-4336B3D9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E7C25D-FB19-408D-885A-5F9F3623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0D2109-1A22-45F4-92CE-DA840C7E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7531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2031CF-BB05-4A60-BA71-3AB434E1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F544D-544F-4BC5-9DEC-DD4608D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A2F36-8D39-4E92-AF29-17058F01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2B4E25-F197-44D6-9F47-78BED788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2BD373-EA03-4494-9C5E-B14BEC7B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E04667-9B18-4228-A75B-B089840D1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9443CF-7EA1-4377-A68C-9A072236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88EE48-A8FB-4092-BE01-26B22948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0F2F07-EA60-4DAE-8E43-2E18F7CE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429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011B2E-1E88-4A8D-803D-E6279A4F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9013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ChatGPT Projects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5BBAA6-6533-470D-BD78-DEE985BD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F0867-4EBB-465A-86E6-BA00877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E6A94F-B90D-4B08-ACA9-A2923A3D7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DECE18-F76F-441F-B6B7-2E3FA425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B4E520-2498-4F7D-8CC7-FD2426EC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8F1A38-CB4F-4660-A87B-D6775686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C4855D-D94D-45E4-A80A-61895A36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A21FB3-BF65-44AC-BD19-47749317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C532087-C237-41DA-897C-2874F89E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0494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Claude Projects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C3858E-8C9D-4548-A75E-D2D20435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705F2D-DDFB-4882-9BA9-40839570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93DC00-F6DB-4895-A1D4-4AD2CFFC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10ED41-DA28-4A7F-BD02-5B7142A1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399334-90F4-4DEB-8E1E-FFD8B361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2261E83-0125-4D66-8286-B411DC01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F603B8-A961-44C3-9AD9-24C3265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994189-727F-400E-B619-B055073E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2B0DF2D-23DB-4EBF-9B06-48906106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725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12105D-3BAF-4FDA-AF49-E634F7EC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Perplexity Projects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D3F445F-E2DA-4886-8FAA-910D2C262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58C2B0-4C33-44DA-AF0D-4A8C07A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8E20B86-F51A-4FD3-AC6A-14356F06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FA30E34-CE2F-42E6-B3A3-0AF3E10F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C091434-86FB-468E-8C91-EE7F0D8B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A4215F1-EA76-4382-BD1D-B0A3C5F1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A934AF8-BCAB-406F-A534-95039ACA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45A9E3C-3150-43F3-A8FD-A3A4ED89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BD068D3-FD9F-473B-9A16-C3D3E5EE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3456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Notion AI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40FE51-7A9E-4632-8E99-CBD99BD5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887458-CE19-48EF-A94C-184E7148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284695-072B-4571-BB72-AFEB497E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3B56933-B85F-4266-8C16-E957D2A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6BD4702-D378-41E8-B605-9ACFB984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DAAFBB1-8B0A-419D-A4C8-52E4DEAA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877025A-0A3B-4293-8445-D5B04C31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EC6593-223C-43A4-8EF1-AA8C8B3F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7B54FB-21E8-4752-A108-01B98511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021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74EF93-46DA-402D-8495-FD5F8FA9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4938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Obsidian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1E9064-150A-45DF-8270-34D2B14B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39BA53-3960-4D98-AD67-30D9383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400615D-6F79-4372-A386-C88AFE075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8BAB1B1-FF2B-44D3-B749-9A845D5E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24FDB77-D413-4D5E-BDFA-48ACC815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F8141CF-A524-4C74-B50A-9C211219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6EFE3B0-E2EB-4A4B-8E8C-3266C1A2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D472F13-E33A-4B25-8FB7-1597BDB0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6E7734B-C5D1-429A-90A0-031DDBA5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6419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Tana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BF4DBE8-2F04-41F5-BB1B-1E19E374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70E2B2D-269F-4723-9603-6E81241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BB704DC-3C55-4A4F-BB17-1970FFA3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61EC48A-F859-4017-A193-32FC5183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E3D30D4-121C-4D23-95D0-875672F7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5E980D5-543C-400E-80FB-BED483DE0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C5BC30-6157-484B-B4BA-1D1CE9820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113BFBF-FD72-468E-AAD7-58A556B7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71632642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D9AB1A7-4BC7-431E-A573-949E8DB2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53786-1AC4-4C02-9B3A-EFEFF4BE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CROSS-CATEGORY MATRIX ·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739F1-6A38-415A-891A-F770954A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跨品类能力矩阵：视觉/阅读 PKM 与录音智能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F47FB-6DBA-4A64-BBD0-7598AF96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● 原生核心  ·  ◐ 可做但非核心/需配置  ·  ○ 非核心或官方未明确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7D4E76-3575-4EED-870B-2DA666FE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E2054-237F-4532-9F6A-88A17599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B4CE6-718E-4B29-B07F-B46BCEEC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02C23-E928-46E4-AA66-25F005D6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96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产品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AE95E9-A7F4-4ED0-A911-335F1C32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多源输入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A81A8-EC8A-4A27-A8C8-EBBDAA9E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精确引用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5DBA6-D1E1-48C6-873B-6BAD0332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实时录音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AB8605-FDCB-4EA3-8A25-FAC78D9B2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会后智能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66CAA-8367-43CE-80BF-B9F58C15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持久结构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A08CAE-0739-480C-9CBF-6B6AC363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跨库问答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9C7114-5548-4CE0-92F1-7CF035BAC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2171700"/>
            <a:ext cx="1004207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本地/离线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A05A04-0781-4468-B6E3-48AD872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D41368-6A16-4390-989A-B61C1D9A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1331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1000AE-627A-4406-BE6C-145AD68C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Capacities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069FC9-E3B9-4A8A-9E64-9A6AE051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94310-F623-47C7-A931-9D22876A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B029D-FBB9-4236-8D59-5599B664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7FA73A-6AA9-44B8-A31F-B19364C5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CF8FDC-B0FF-4BB1-9596-4CEB99C2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F9F14-184C-41F6-8497-638EBFCD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CAA358-2A3A-4CFD-A34A-74881FD5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2686050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5EA726-CB5A-4CFC-958F-6897D37E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0DC23-E6AA-4813-8135-01750ACC9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7531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Heptabase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73CE0-C952-4174-A4CE-6CDF3DBB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4D02A0-381F-421C-8291-27EE5ABB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5ED506-784A-4835-9C53-093B2015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C96619-BA83-4C2F-AE46-E5DA84EC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96126-5887-4AE9-B681-B0036A4C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92DAEC-6380-4E9D-AF4A-DE613E97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079A1-696D-48A1-A67A-D3E899D8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107531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1A4629-C1B7-41AC-9B3F-B55B78C5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EDB40A-8C3F-4F39-8C1F-DCEAF406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4294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2D7ED8-42DA-4087-937B-5E2A1C05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9013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Readwise Reader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176AF8-5FC9-4D19-9D89-1B699F1C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242F69-5F2B-4B5E-A412-158AE91FD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D441E73-2D26-4683-9DCB-572F04A4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CCE637-CDD1-4B41-A691-8A9D55FE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1FE2B6-1F62-4963-8263-D9325A4B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96B3FCD-0C68-4B5D-B77E-06E69F4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706405-DCF4-4C13-8560-3BCBF0F3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529013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09A97C-2AAE-4A45-B6E9-86856D33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8149753-FA94-44C6-8587-E135966C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0494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RemNote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366BB8-8CBF-48F8-83E7-7B15F9A8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808D97-0D79-47D9-9502-154846A5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6C9ADD-DD36-4A0F-88C5-4C65F61C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3EC358-F789-4DC9-8EE0-53CB427A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1D227E-2972-4433-AAF9-A4C90DC9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058F7A-BA8C-47BC-862C-BF42AC83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A677E5-EAF8-4BB8-B0B9-3709B0CE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3950494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E23667-3472-4C30-B724-E9E7503A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43C42A1-6BD3-4050-B31A-DA14C020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7256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67AAE8-B758-403A-AE91-160EEFCF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腾讯会议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E2937F-A216-4AD6-B061-ECD4FCE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BD5FF1-86BB-4FFF-9959-1E9FC71D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883E9C-267B-4B16-AF2E-8ABB9AA1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2B51D64-FF86-4D85-8B7F-A9370575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7EA52C1-E91E-4AC0-9027-6991D47C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4D08023-5C88-4BA7-B5EF-70E887DF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66C6E00-E523-461A-AEAF-89C7EA4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4371975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0B0582A-052A-44D3-898B-94788D40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187D7F9-FEBA-4717-94E7-46E80AB3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3456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Plaud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2E4918E-3DEE-4537-B4E9-B07538B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F744A4-41AD-4493-968E-A14187B0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7DAAC1-D0A9-44AE-9987-A366590E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F6848CB-BEA4-43EF-9E9F-16DB37BB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E7FE87F-378D-447B-8FEF-F353C126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E37E7A-4D52-4D8E-82D8-C2E87DEA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5CB501-04D0-47D2-8697-54D5CE18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4793456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8B37B83-3210-4895-8492-52D66D87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8738"/>
            <a:ext cx="10820400" cy="4214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7045F12-813A-4089-B61A-9B8F56A3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0219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A678AD-E6F5-4D9D-959F-139BD8D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4938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Granola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F42421A-7EEE-4B54-8AAF-85EAE611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6B3DE49-1D56-4E6E-AA2E-DCF58A12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E9B922-DD54-4DCD-8B1A-88A19EB6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CA60E86-C98E-4B1F-9031-9185B7B2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14F8086-B9C9-458E-9BFC-BF40E409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45DE8E1-D7A3-4C73-B249-A611C847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3B73CF-EDEF-4B3F-ACEA-62AB6E4B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5214938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3F95BF3-234B-4BB3-BF5E-BEB890A7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3E6B4D1-FEE4-4E57-9A3F-E1C502C0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6419"/>
            <a:ext cx="1962150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Otter / Fireflies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A106396-9D57-46BB-AA45-FF3C157D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E87EA94-51A9-4B48-B843-F7E234AB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657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F649833-A022-4801-BF49-419D891D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6464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FEA6108-ABD7-4B70-BEFF-EE4A508A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9271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8A9E1BB-AFCE-472F-84C5-E36B5572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079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◐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D38D937-DDCA-4699-AFFE-57589192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4886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●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58E0E4-7F0E-4493-ACF4-8CC2DDFA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693" y="5636419"/>
            <a:ext cx="1004207" cy="3071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○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4220CDE-68E6-4A10-B349-80587D33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59257445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C592EC-A1A8-4CC6-B8FD-6082BA050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AD97C-8613-427D-9162-4820C667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A328F-93F5-4AC9-8044-D5577D2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五种知识模型，决定了产品能走多远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A76FC-11E9-4A52-B0D5-B4580088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“知识”是资料、上下文、对象、空间关系，还是会话档案，会直接决定后续能力。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55D9-EF12-4F14-A480-4DB9E0B1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4AFBF-68AC-463D-9D1B-F6C8AAD4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66C69C-8418-41DE-80AE-2693CB9B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AE8EF-33CB-441C-A949-053D88B1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来源集合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BD86C-E4B6-4D72-BC97-1AF10A15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Source-bounded Notebook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D027D6-C764-4172-8BAD-BBDADA29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240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最可信的问答与转化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672835-B59D-48E0-A0A4-5BA9313E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33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NotebookLM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9C95C7-82EB-4FB4-8690-954B1A93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DB8F3-B655-4AE6-A4C0-78F89231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F3857-18C9-4F84-87CA-7B38E772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项目上下文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8952C-8EDE-4DBD-A316-5BDA3543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337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Chats + Files + Memory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2C60A9-D133-40F4-9B8E-6E9ACBE1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051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长期任务与通用执行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1CBE6-753B-4899-896F-0693BF47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ChatGPT · Claude · Perplexity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D57E1-7309-408E-BC7A-33DAD2BE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DDB731-6E34-41D4-B987-22546B5C1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6C3DD-A246-4326-B8ED-0E97101E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62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页面/对象图谱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A22262-7192-48DB-9F57-F72714B5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147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Typed Objects + Relations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1CD16-D75D-4259-A037-AA5A4CD1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861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长期结构与跨上下文复用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83BD4-5B68-4A01-8176-FC4C76B5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957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Notion · Tana · Capacities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F5F807-06E2-47FC-8325-F46AF6C6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243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B955E5-ECC1-43B7-9DCE-6137A802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E21B6B-BD22-4234-8AC2-EE48E89E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空间理解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446214-E1EC-44F8-BBD3-820EB562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49580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Cards + Whiteboard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5847E8-7ADA-4FCC-9E36-A20AAB3F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6722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保留用户如何连接材料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4FBBB-69D1-4607-B2D2-837C4EC8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Heptabase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07484-E266-48F2-BEDD-066B178C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62B2F2-4386-46D1-928E-39B892346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143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AA0A6F-4631-49E1-B0E2-A1841F2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会话档案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CA7FE-58D8-4055-AD88-94F5EAC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76850"/>
            <a:ext cx="255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40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Recording + Transcript + Outputs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BBD60B-C0B1-41C0-9786-2017F1E8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2482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回放、查找、总结与行动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21727-ED40-4CD6-B08F-A7AE19FF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Plaud · Otter · Fireflies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CBBEE6-D1E2-4B9D-8837-0998C3F8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864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1D1DE52-E94D-4204-A287-BBFA0BA4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208687988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D06A5D-EA61-4B52-9EA2-9F211B3A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8CA9A3-A33A-4B5C-8A0C-E70B5A4C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EA8D05-64CA-4D6B-B5AD-1B25B015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现有产品通常只优化链路中的一到两个阶段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D94CB-CAD2-49C2-BE3B-C32FFB23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真正的机会不是再加一个 AI 按钮，而是把阶段之间的交接做完整。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687D6-FB9E-4CA9-B819-2B6583ED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B5B0B-7789-4311-80D9-012DEDA3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9AADC-0F4D-4166-AB87-0959C9E3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D7A3F7-628C-4E53-A84C-4E717E3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5CBDF-9C91-4A83-8E78-A6116904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B7C569-11BD-48E4-A33B-20BF9501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收进来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A6279-E105-4C82-B310-1126FC97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Reader · Plaud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818E6-913F-46CA-ADF4-C851093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6472A-1F49-4B1B-B005-3860B164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D7E996-0346-4073-B6E3-1E74EEB5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看懂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789970-2E4A-46D8-8002-78C375E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NotebookLM · Heptabase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11B44-E216-400B-87D3-B7C5DE6E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D136B-E47E-4948-8C5C-D9D848AE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EBD8D-43D8-42D0-A326-885C9E9D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组织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40CC22-55E2-49AC-8610-D61B2797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Tana · Capacities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2D6A0-A9AC-4F56-84C3-0DB6C104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EB66D0-3F8B-407F-A0EF-73402EAD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RETRIEVE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BDCA9-6293-499B-A21F-CE9F61A3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找得到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C8FE7-7C86-4FDE-928E-861A5505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Notion · Perplexity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29B2C-CC1E-4C17-88C8-EC918A88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1086B3-B3C8-4143-8B43-5378796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APPLY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D1CD34-42BD-43D3-B2AC-8658513B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用出去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EFD2EA-61DE-4672-B3BF-DC8F7E2DC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ChatGPT · Claude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A09C42-CA43-46FC-BBFF-EA18D0B4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F51952-9662-4E18-B0FB-5F3B7C8B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667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RETAIN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76BEE6-A2A8-427E-8F34-23CA9087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04800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真正记住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70537A-015C-4282-8DFF-F6C4D646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419100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RemNote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53AFC9-E897-4474-8879-C380A120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AE0511-D3FE-4D5B-B83E-CC5AECF9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85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Gunther 的机会：让每一步都保留出处、状态和可逆性；用户可以随时回到证据，也可以把结果继续送往下一步。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B2596B-5908-46BD-9563-B13B4BD4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8128671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E25900-517C-49C9-8D7B-5EC66374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F868-5AF4-4238-902F-E14C1A121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UX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38957-1AE1-4B0B-AFFE-8A15AE1D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被反复验证的六个“好用”模式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975E7-213B-4E1A-AA85-C4761026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这些模式比增加更多入口更能降低认知负担。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8998D-EA9D-4676-AB81-070D3434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432BD-930C-46AB-A241-76F6772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06199D-AEB2-4407-9253-BF84E2E48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0A9EC-212C-41FC-AADF-DEDE56C9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一键进入专用工作台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079383-8349-467E-AFA4-47BF8FB8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574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iMA / 腾讯会议 / Fireflies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74945A-87EB-4A08-A0CC-7F31C67D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813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点击 Record 后直接开始一个任务，而不是先做知识库配置。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5D067B-1112-4886-92D5-6B2B4791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385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6CC2C2-0782-4719-B98C-7CFE7C7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95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4670E-9BEA-4967-8CC8-AC001C93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76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呈现状态 ≠ 生命周期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FA7F8-FA67-4BA4-97BE-0DE688E1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574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Otter / Fireflies / Tana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0EB39-6ED4-4541-A6B7-882FCC2D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813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最大化、悬浮、最小化、后台只是视图切换；不会结束任务。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075E38-2222-4399-9795-28C5A7FF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2385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DD926-2427-41C0-932F-5ACB9A84F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0A1666-7D31-4B85-B6E5-A9821B6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结束后仍是同一对象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95A9F-B9FA-4ADA-86B9-6165D49C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Conversation Hub / Notepad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108EA2-DAF8-49A8-8A65-10B67C0D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386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Live → Review 连续；不跳走、不丢上下文、不强迫归档。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3B1BEC-59DF-497E-B46D-2FB19CCF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958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5E5357-FEFE-4C01-A4A3-E2D1FFEA0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528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A7C5EF-35A1-47B5-962C-B28EC997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人工判断给 AI 信号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FDE867-6884-48BD-B88D-63A9EF20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Granola / Plaud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E2798C-4B9E-4580-A741-84E800B0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用户的短笔记、Mark Moment、图片决定 AI 应关注什么。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728DE6-B720-42E7-88FA-BC287F94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958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9A810D-451F-4BDF-BF4D-7A7764EC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9415B-C158-4398-819F-2C927825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任何结果都能回原文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86D696-6817-436C-9419-8DD9530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NotebookLM / Notion / Heptabase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86D36E-F2E1-429D-A505-F15D50F9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959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答案、总结和行动项可跳到页码、段落或时间戳。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B51C4-A28A-4C87-A8CF-83FDC5A02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531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7FFF13-2A67-4147-AE31-CCE6F2A7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610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06D683-5634-496F-8557-FB0B83CF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91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输出在独立 Studio 中生成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4E1AFB-9660-4F78-9B1F-08AC509E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972050"/>
            <a:ext cx="443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NotebookLM / Claude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2E9FA84-CFD6-42AA-BEC4-85DC62D3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95900"/>
            <a:ext cx="4438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报告、脑图、测验和文件不是聊天气泡，而是可继续编辑的产物。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449A7E0-A329-4C5E-AAF9-BF228285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753100"/>
            <a:ext cx="4438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FCDCE4-AC0D-4CE2-B217-1A8E11ED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67296828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5C5B19-B433-4838-8A8A-750EE612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7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51D32-E3E7-4D56-92AA-274E5D1B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MARKET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9419A-1DE8-4E06-A790-AE5A5FB9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六个仍没有被完整解决的行业缺口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2425DD-17F3-4B0D-844C-44D1B996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这也是 Gunther 最可能形成长期壁垒的地方。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F574B0-644B-445E-8EF9-6DAA5088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FE56B-3953-4682-873C-3CC7C0F0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55DE82-E42C-4394-BC33-F74E5035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32CDDF-6463-494E-8D96-2590DCE0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764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321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Source 与 Knowledge 未分层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AE8D8-2499-4325-BE43-3FDCE56E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09550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PDF、网页、转写、总结常都变成同一种 Page/Note。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B6D03-EA5B-4F0C-B227-7BAC77E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5908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47A4C-6AE0-4B4A-94E1-68B58CCC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5CEBD-712A-42D3-AE86-033349B8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432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Citation 只活在一次回答里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16FEFA-A1F5-415E-ADB3-125003F9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引用关系没有成为长期、可查询、可复核的知识血缘。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366F7-6635-47A0-8846-73689A90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575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CF215D-228F-43AA-B58A-F9DDAF90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9C7B0A-4B07-453D-AA89-53809E0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Transcript 被当成事实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05C20-92CD-4D41-A745-E940601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42900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识别错误、猜测和未决讨论未经审核就进入纪要或知识库。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F59F3-FF4A-45FD-92E5-7D9AB3E4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8B458-5380-4538-8D30-4FCF4A8D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F4D74-30B1-4DBE-BFCC-906CA8A2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767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AI 没有审核状态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B149CC-1CD9-40FB-A2ED-5946C321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9575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231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AI generated、User reviewed、Verified against sources 经常混在一起。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215D6-CA07-478E-8CCF-C09D90BE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910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AE66F0-0B4D-40A2-8161-0D773BA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45BDD-CBB9-4B2A-AF9B-3FE59952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434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跨来源综合仍很浅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AA3EBF-CFFA-40A0-AE33-E0DCCDA6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76250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录音强者不懂论文，资料问答强者没有实时录音，PKM 强者入口复杂。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A80FAE-9FD0-4BF0-9E75-1D1B3E03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578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E137C6-8B5B-43DF-916F-C85175A3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D95757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C3DF71-49FF-4ADA-904E-25FF5831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1020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本地与好用很少兼得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D3CA9B-DB60-40A6-A7C8-0C7AFD16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29250"/>
            <a:ext cx="6343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本地/开放产品需要配置；开箱即用产品通常依赖云端和封闭数据。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5FC7E-8F49-4D11-9A34-984B00BA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9245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2E8DC8-B1AB-4F5A-B5AF-14AFABBC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73276733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AC09DD-C558-49ED-9360-C4971714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73C4DB-3506-4870-8A22-5C1827C4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POSITIONING OPTIONS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B01E9-C385-4F70-A671-75663BD8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三条可行路径：推荐“录音切入，证据 OS 落点”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54D3A-29D1-467E-8112-6B94B35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选择的是进入市场的楔子，不是最终能力边界。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9FB1C-F6A0-4C83-A7B6-C44A6DF1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B7D1D3-1C8D-4809-ACCC-19135AF8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0B2A4D-972A-4E24-97E0-A5674738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390900" cy="34099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3DA48-C8B9-4E25-ACF1-D0503BBE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1D230-2C78-42E4-A132-EE0EA3DA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673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私有版 NotebookLM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EABDB-452B-4337-BCB8-E8FA4597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以多源导入、引用问答和 Studio 输出为主。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BF356-48EC-4260-B265-7D61D737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F7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4BBEC-B6CF-4F87-8FF6-EC337350E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优势｜上手快、需求清楚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00F32-4040-4DF7-9B45-FFFB5521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风险｜拥挤，容易变成 PDF Chat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16A363-0235-4DC4-B2A6-14B3E6AE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71700"/>
            <a:ext cx="3390900" cy="34099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19050">
            <a:solidFill>
              <a:srgbClr val="E790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8FFC53-D75E-43D4-AE45-1D73EC20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B8204-85C6-4FD0-A5F7-5A18505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146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iMA × Plaud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95616-ABCE-4CDC-A1A0-EECBBD8A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以长录音与多模态采集为入口，继续进入问答、学习和写作。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792FE1-F785-4C1A-8758-01862F4C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790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0660AC-B828-44BC-AAD2-8142CE35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196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优势｜差异明显、与现有能力匹配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CB3195-82D1-4B7E-8486-7951ABB9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00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风险｜需避免被认作会议工具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108951-EF63-4F46-80E8-212A4C99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71700"/>
            <a:ext cx="3390900" cy="34099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021D60-1D0F-417D-81A9-AFC21301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19350"/>
            <a:ext cx="47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D69E0-9155-42B9-8911-3255B9CD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14650"/>
            <a:ext cx="2933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Evidence 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7976A-C75C-4AB4-B7A9-53813617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293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统一来源、证据、结论、审核与产物。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659337-A276-432E-BB3A-8DD407839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29150"/>
            <a:ext cx="293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A87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28B5DE-F5C4-4151-975F-D2B17589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819650"/>
            <a:ext cx="293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优势｜长期壁垒最大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499CD9-A250-466C-85A4-2D27AB71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00650"/>
            <a:ext cx="2933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38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风险｜概念重，必须用简单前台隐藏复杂度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6FF591-0276-4A02-9BB8-A2551F94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推荐策略：B 是第一阶段产品心智，C 是底层架构与长期品牌承诺。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0B4366-8358-4986-902A-0F30004A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02235326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20C9ED-0C54-4D8D-8540-4D994E9A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B69BE-EBD5-46ED-ADC6-14C3255D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RECOMMENDATION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6531B-EA14-4848-B0CB-869FAF59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推荐定位：以原始证据为底座的知识形成工作台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BF334-1CB2-4AC0-9A2D-730FD4EE7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不是“又一个 AI 知识库”，也不是“只做会议纪要”。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A23EF-A2BF-49A0-901B-F2D5687F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7A7F63-02D6-4064-A0BA-0FBE8A24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F49D-85E8-43A2-A7C3-42B313C35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8204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E5F6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74199F-BACC-4917-913F-16DA3859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10172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357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Gunther 把录音、论文、书籍、网页和搜索结果，转成可核验的知识，并继续支持问答、解读、写作与学习。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8F9D5-75C6-4AEB-8CC7-1B8EB9A62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F7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E90B54-2B03-4520-A9EB-5FC062E1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1. Capture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8F039-552B-4EA3-AEEB-9A074D5C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任何来源先进入 Source Inbox；不要求先选 Library。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B4F014-F4BB-456F-9141-341C4831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67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9B9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02B9E-2CAD-4E90-84E6-DDCE1C9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2. Understand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E68784-B3D8-4284-B18E-7E42E87C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719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在 Record / Read / Research 工作台中转写、标注、问答和生成产物。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A7374-6024-4804-9C41-E0D5221E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67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B61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EB7C2-54EA-45BB-A7C5-F9D17EBE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95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3. Curate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AB8C6C-8560-4B6F-9CEF-5640C341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719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把 Evidence 提升为 Candidate Claim，经用户审核后成为正式 Knowledge。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82F523-C272-4710-9BEA-FB38238B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67100"/>
            <a:ext cx="2476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A8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359BA1-3B2E-400B-B86C-521BAD62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4. Apply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3BC109-FB2E-493C-A480-AA14CDFC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719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同一上下文继续 Ask / Write / Learn；所有结论保留引用和版本。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B7E1-F501-489D-AC90-DFA045CA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34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FA87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C9E18E-D84E-44E8-8F43-119BFC6F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345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入口承诺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71C15-4211-45AD-A74B-6E34AE99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345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先做事，再归档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9DAAAF-2B56-4D45-B239-CA995891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5391150"/>
            <a:ext cx="34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EBF5B4-17DA-4006-AFEB-F6EB3B89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5562600"/>
            <a:ext cx="345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可信承诺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33ECF9-08EF-41A2-94A8-BDB02C48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5848350"/>
            <a:ext cx="345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每个结论可回证据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576805-B638-4042-88E3-F9F434B4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5391150"/>
            <a:ext cx="345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FAAA6B-FC5B-4A87-A4E6-6B2CC064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5562600"/>
            <a:ext cx="345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所有权承诺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37ECA2-7B62-45BA-A823-32C1B82C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5848350"/>
            <a:ext cx="3454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本地优先、开放导出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69CC8A-0131-4EE3-82DD-1434B70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802411360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8B2EB-30CE-43A7-BA9A-0E770F51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99F76-AD8C-46D5-BB23-6E1D3847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RECORDING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5F7FEE-73CC-40C1-A276-457A55F9E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260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录音是最合适的产品切口：高频、刚需、差异明确，也最能检验整套架构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92661-D6F2-49EC-80ED-751F905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目标不是“录完得到摘要”，而是让一次 2–4 小时课程成为可继续工作的 Source。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D5ADE-732A-4BE9-8DDE-A2AF85F0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5D0C33-F4C1-47E7-94E0-1E53D82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39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67E89-37B5-4311-BBF6-C401548F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33800"/>
            <a:ext cx="9296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E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75A0EF-8002-4090-B590-3630DD59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9A0E8-67C7-47EB-B918-2D17EFB9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F74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F74FF"/>
                </a:solidFill>
                <a:latin typeface="PingFang SC"/>
                <a:ea typeface="PingFang SC"/>
                <a:cs typeface="PingFang SC"/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931C1A-8EE4-42E3-8325-FE9791D4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一键开始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A22D6-1F8F-434B-9429-412D2790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无需 Library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281C2-6FFD-4BE0-B2AE-FFFC120A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90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1D06E-95BF-4566-9E56-768CA6E1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71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7902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E7902D"/>
                </a:solidFill>
                <a:latin typeface="PingFang SC"/>
                <a:ea typeface="PingFang SC"/>
                <a:cs typeface="PingFang SC"/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1E237-CDAE-4F5C-99C9-AF9659D4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实时转写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E0EB0-8BFB-4CEA-AE33-2A726629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171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笔记 / 标记 / 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094B34-AE59-490F-950A-2FAD7122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B61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FD915-CB08-47AE-8772-2F74787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71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9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B61D9"/>
                </a:solidFill>
                <a:latin typeface="PingFang SC"/>
                <a:ea typeface="PingFang SC"/>
                <a:cs typeface="PingFang SC"/>
              </a:rPr>
              <a:t>BACKGROUND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D8D111-B550-43C5-ABCC-B4F3A201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71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悬浮 / 最小化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5713F4-274F-4ED7-9057-72864A20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171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任务持续、可恢复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BAFC2-9A84-49DF-881C-80C12773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B9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E17B3B-1652-44ED-B7B3-1D2344E5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71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49B9D8"/>
                </a:solidFill>
                <a:latin typeface="PingFang SC"/>
                <a:ea typeface="PingFang SC"/>
                <a:cs typeface="PingFang SC"/>
              </a:rPr>
              <a:t>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38B5E-9825-462B-AD37-C964E156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71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同一对象结果页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5519A3-20E3-4D46-B468-6733746E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音频 / 逐字稿 / 章节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E8DF03-E365-49E1-BC8F-05224105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562350"/>
            <a:ext cx="3429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4122F9-EFA7-42AB-98C8-B6B86DB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CURATE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BB2CA9-FCDB-4F2D-B7E3-1DF3185F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971800"/>
            <a:ext cx="198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选择性沉淀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CF142-124C-44D2-AE23-39FBAFB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71950"/>
            <a:ext cx="198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E6674"/>
                </a:solidFill>
                <a:latin typeface="PingFang SC"/>
                <a:ea typeface="PingFang SC"/>
                <a:cs typeface="PingFang SC"/>
              </a:rPr>
              <a:t>Claim / Concept / Library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5B31C63-FEAE-4778-AA89-0D3D845B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9C92A0-6A43-46C0-8CF2-DE56CE3A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81625"/>
            <a:ext cx="1021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07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0D12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B0D12"/>
                </a:solidFill>
                <a:latin typeface="PingFang SC"/>
                <a:ea typeface="PingFang SC"/>
                <a:cs typeface="PingFang SC"/>
              </a:rPr>
              <a:t>长课程基线：至少 4 小时、目标 8 小时；本地分块持久化；崩溃恢复；每 10–20 分钟 checkpoint；原始音频始终保留。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19E0F6-4918-4F5C-BFE8-FE35CE77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10820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8992A3"/>
                </a:solidFill>
                <a:latin typeface="PingFang SC"/>
                <a:ea typeface="PingFang SC"/>
                <a:cs typeface="PingFang SC"/>
              </a:rPr>
              <a:t>官方资料调研 · 访问日期 2026-08-29 · 分析判断不等于厂商官方评分</a:t>
            </a:r>
          </a:p>
        </p:txBody>
      </p:sp>
    </p:spTree>
    <p:extLst>
      <p:ext uri="{BB962C8B-B14F-4D97-AF65-F5344CB8AC3E}">
        <p14:creationId xmlns:p14="http://schemas.microsoft.com/office/powerpoint/2010/main" val="157468315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114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D6557-FA9B-4FC4-9D29-214F1828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A8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ADC81-96A7-49FF-A787-18602EB9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6C4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AEB6C4"/>
                </a:solidFill>
                <a:latin typeface="PingFang SC"/>
                <a:ea typeface="PingFang SC"/>
                <a:cs typeface="PingFang SC"/>
              </a:rPr>
              <a:t>DECISIONS TO MAKE NEXT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0F4D1-2F5F-47A9-A91B-11090FA3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7239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下一步，不是继续加功能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0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而是确定三项产品选择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12CA43-DFEC-4C91-8CA3-DA3A76B8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C5086C-246E-437A-8C99-04C51348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051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入口心智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859E94-BA7A-4738-812B-C1141469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rPr>
              <a:t>首页是否以 Ask / Record / Read / Write 四个一级工具进入任务？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892E7-6C63-461F-A338-7A3C438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52850"/>
            <a:ext cx="1007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B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CB85D-383D-4CBE-95A2-E17D4F18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A5806-9112-4912-9FE6-DEC1C98F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005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知识成熟度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0F43B-8FE1-4B90-99F1-5D94C75C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3860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rPr>
              <a:t>是否正式区分 Source、Evidence、AI Candidate、Reviewed Knowledge？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F39BE-E54D-4D66-9F1B-1C639CC5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007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B4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39DE3-CB5C-44CA-9CED-84F83353E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920296-0AA4-4244-9410-FD986F7E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958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市场楔子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D6994C-FA62-44E3-A0C2-B5E9524A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339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C4CBD6"/>
                </a:solidFill>
                <a:latin typeface="PingFang SC"/>
                <a:ea typeface="PingFang SC"/>
                <a:cs typeface="PingFang SC"/>
              </a:rPr>
              <a:t>第一阶段是否明确押注“本地长课程录音 → 可追溯知识”？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76B7D-D29D-4FC3-92A0-1E62508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43550"/>
            <a:ext cx="10077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53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BF0BED-59D5-4D51-9EE4-C945ACDB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A878"/>
                </a:solidFill>
                <a:latin typeface="PingFang SC"/>
                <a:ea typeface="PingFang SC"/>
                <a:cs typeface="PingFang SC"/>
              </a:rPr>
              <a:t>建议默认答案：是 / 是 / 是。然后用一个完整 Recording Task 验证整条链。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BCE9C-E14B-40C7-9DE2-9F2FBE5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000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7C8492"/>
                </a:solidFill>
                <a:latin typeface="PingFang SC"/>
                <a:ea typeface="PingFang SC"/>
                <a:cs typeface="PingFang SC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678131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2026-08-29T15:35:49.5160000Z</dcterms:created>
  <dcterms:modified xsi:type="dcterms:W3CDTF">2026-08-29T15:35:49.5160000Z</dcterms:modified>
</coreProperties>
</file>